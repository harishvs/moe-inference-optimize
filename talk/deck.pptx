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fused_moe_kernel — the grouped-GEMM kernel that runs the MoE feed-forward — owns 80% of prefill. It's already tuned for tensor cores in vLLM. Attention projections are next at 9%. Attention math itself is small; at L=1024 the FFN term dominates the quadratic attention term by roughly 9×.</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chart, three levers. Walk the audience across:</a:t>
            </a:r>
          </a:p>
          <a:p/>
          <a:p>
            <a:r>
              <a:t>Blue line — bf16 baseline. The shape of the problem.</a:t>
            </a:r>
          </a:p>
          <a:p/>
          <a:p>
            <a:r>
              <a:t>Green line — FP8 quantization. Consistently below baseline by 15–35%. It's a flag flip on vLLM; we'll cover the accuracy tradeoff on the next slide.</a:t>
            </a:r>
          </a:p>
          <a:p/>
          <a:p>
            <a:r>
              <a:t>Red line — TP=2 across both Blackwell GPUs. Slightly better at L=128, sits on top of the baseline at higher L. The reason is subtle: at batch=1 the per-step work is small, so the cross-GPU all-reduce dominates whatever parallelism we gain. TP=2 is a throughput lever more than a TTFT lever.</a:t>
            </a:r>
          </a:p>
          <a:p/>
          <a:p>
            <a:r>
              <a:t>The takeaway: for this chat workload, FP8 is the lever that moves TTFT. TP=2 helps when the GPU has more work per step — which is exactly the regime we'll hit when we start batching.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counterpart to slide 8. Same three lines, different metric.</a:t>
            </a:r>
          </a:p>
          <a:p/>
          <a:p>
            <a:r>
              <a:t>Blue line — bf16 baseline. Roughly flat across input length: 2.34 ms/token at L=128 up to 2.90 ms/token at L=1500. Decode TPOT barely depends on prompt length because each decode step does the same weight-load work regardless of how long the cached context is.</a:t>
            </a:r>
          </a:p>
          <a:p/>
          <a:p>
            <a:r>
              <a:t>Green line — FP8. Consistent ~15–17% TPOT improvement across all prompt sizes. FP8 attacks the bandwidth-bound weight loads that dominate decode, so the savings are stable.</a:t>
            </a:r>
          </a:p>
          <a:p/>
          <a:p>
            <a:r>
              <a:t>Red line — TP=2. ~12–14% TPOT gain across the grid. Splitting the model across both GPUs halves the per-GPU weight-load bandwidth demand per token, so the bandwidth-bound decode loop runs faster.</a:t>
            </a:r>
          </a:p>
          <a:p/>
          <a:p>
            <a:r>
              <a:t>The takeaway: for TPOT — unlike TTFT — both FP8 and TP=2 deliver real, consistent wins. They're additive in principle, though I didn't measure the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chat app uses a long system prompt with tool descriptions and few-shot examples — that's the right side of this chart, where the savings are largest.</a:t>
            </a:r>
          </a:p>
          <a:p/>
          <a:p>
            <a:r>
              <a:t>Left bars: short shared prompt, 13% faster first word. Middle: medium prompt, 14%. Right: long shared prompt, 40% faster.</a:t>
            </a:r>
          </a:p>
          <a:p/>
          <a:p>
            <a:r>
              <a:t>The pattern: reuse helps most when the prompt is most expensive to recompute — which is exactly when we want to skip it.</a:t>
            </a:r>
          </a:p>
          <a:p/>
          <a:p>
            <a:r>
              <a:t>Caveat for a different workload: if every request has a totally unique prompt (e.g. RAG with a different retrieved document each time), this lever does nothing.</a:t>
            </a:r>
          </a:p>
          <a:p/>
          <a:p>
            <a:r>
              <a:t>Also worth flagging if asked: lower-precision math (FP8) has its own trade-off. Three out of four standard quality benchmarks are unchanged within noise. The fourth, grade-school math, drops about 2.8 percentage points. We'd test on the customer's own evaluations before flipping that switch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for the VP. One curve, two stories.</a:t>
            </a:r>
          </a:p>
          <a:p/>
          <a:p>
            <a:r>
              <a:t>The bars: throughput. Same GPU, same model, same engine. Concurrency goes up, tokens-per-second-per-GPU goes up. From 397 tok/s at B=1 to 5,676 at B=128 — about 14×. Cost-per-million-tokens is the inverse of throughput, so it drops by the same factor.</a:t>
            </a:r>
          </a:p>
          <a:p/>
          <a:p>
            <a:r>
              <a:t>The line: per-user TPOT. The price of those throughput gains. At B=1, every user feels 2.3 ms per token. At B=128, every user feels 10.9 ms per token. Still streaming faster than humans read, but 5× slower per-user.</a:t>
            </a:r>
          </a:p>
          <a:p/>
          <a:p>
            <a:r>
              <a:t>What to do with this: cost-mode batch jobs run on the right of the curve, latency-mode interactive chat runs on the left. The same infrastructure handles both — different vLLM configs, same pod.</a:t>
            </a:r>
          </a:p>
          <a:p/>
          <a:p>
            <a:r>
              <a:t>Time-to-market: every lever in this talk is a configuration change. No model retraining. No risk beyond the FP8/GSM8K caveat we're explicit about. Capacity: when traffic spikes, we move right on this curve before we add new GPU pods. That delays the next CapEx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translates the technical wins into dollars and timeline for the VP. Cost savings on the left, time-to-market on the right.</a:t>
            </a:r>
          </a:p>
          <a:p/>
          <a:p>
            <a:r>
              <a:t>Cost: the 40% number folds in FP8's ~17% end-to-end speedup and the prompt-reuse TTFT savings that show up across the chat app's shared-prompt traffic. At commodity EKS GPU pricing — $2 to $4 per GPU-hour depending on instance type and reservation — a 40% compute reduction on a 2-GPU node running 24/7 is fourteen to twenty-eight thousand dollars saved per month per node. Break-even is day one because neither lever needs new hardware.</a:t>
            </a:r>
          </a:p>
          <a:p/>
          <a:p>
            <a:r>
              <a:t>Time-to-market: the launch concern was traffic exceeding the SLA under load. The measured baseline already passes at low concurrency — TTFT and TPOT sit inside SLA up to ~32 in-flight requests per vLLM pod, which translates to roughly 200–600 active users at 5–15% in-flight rate. FP8 and prompt reuse extend that ceiling, and the scaling playbook covers the next 10× without re-architecting — same code path, same pod shape, just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scaling playbook for the EKS shape we're in. Each row is cheaper and lower-risk than the next; only move down a row when the row above stops being enough.</a:t>
            </a:r>
          </a:p>
          <a:p/>
          <a:p>
            <a:r>
              <a:t>Row 1 — software config. FP8 plus prompt reuse is free. The only way it stops working is if FP8 hurts accuracy on the customer's own evals, or if traffic doesn't actually share prefixes.</a:t>
            </a:r>
          </a:p>
          <a:p/>
          <a:p>
            <a:r>
              <a:t>Row 2 — concurrency tuning. Set max_num_seqs from the p90 TTFT target, not from peak throughput. The measured ceiling is batch=32 in flight per pod — past that, TTFT p90 exceeds the 500 ms target. Translating that to humans: at 5–15% in-flight rate (typical chat with think-time), one pod can absorb roughly 200–600 logged-in active users before this lever runs out. Caveat: that range depends on think-time, prompt length, and session shape — not measured against the actual chat-app traffic yet. When this row stops being enough, add pods (row 4) before doing anything bigger.</a:t>
            </a:r>
          </a:p>
          <a:p/>
          <a:p>
            <a:r>
              <a:t>Row 3 — TP=2 inside one pod. Uses both Blackwell GPUs together. It buys ~14% TPOT and doubles the memory available for bigger batches. It does NOT buy TTFT at single-user load. When this row stops being enough we add horizontal capacity, not vertical.</a:t>
            </a:r>
          </a:p>
          <a:p/>
          <a:p>
            <a:r>
              <a:t>Row 4 — horizontal pod autoscaling. Add more replicas behind the load balancer. Linear capacity scaling, k8s-native, no engineer in the loop. Stops when the GPU node pool is full.</a:t>
            </a:r>
          </a:p>
          <a:p/>
          <a:p>
            <a:r>
              <a:t>Row 5 — new nodes. Most expensive lever; triggers the procurement cycle. We push it as far right as possible.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1005840"/>
          </a:xfrm>
          <a:prstGeom prst="rect">
            <a:avLst/>
          </a:prstGeom>
          <a:noFill/>
        </p:spPr>
        <p:txBody>
          <a:bodyPr wrap="square" lIns="0" rIns="0" tIns="0" bIns="0">
            <a:spAutoFit/>
          </a:bodyPr>
          <a:lstStyle/>
          <a:p>
            <a:pPr algn="l"/>
            <a:r>
              <a:rPr sz="4400" b="1" i="0">
                <a:solidFill>
                  <a:srgbClr val="1F2A37"/>
                </a:solidFill>
                <a:latin typeface="Calibri"/>
              </a:rPr>
              <a:t>Inference latency on EKS</a:t>
            </a:r>
          </a:p>
        </p:txBody>
      </p:sp>
      <p:sp>
        <p:nvSpPr>
          <p:cNvPr id="4" name="TextBox 3"/>
          <p:cNvSpPr txBox="1"/>
          <p:nvPr/>
        </p:nvSpPr>
        <p:spPr>
          <a:xfrm>
            <a:off x="731520" y="3383280"/>
            <a:ext cx="10972800" cy="914400"/>
          </a:xfrm>
          <a:prstGeom prst="rect">
            <a:avLst/>
          </a:prstGeom>
          <a:noFill/>
        </p:spPr>
        <p:txBody>
          <a:bodyPr wrap="square" lIns="0" rIns="0" tIns="0" bIns="0">
            <a:spAutoFit/>
          </a:bodyPr>
          <a:lstStyle/>
          <a:p>
            <a:pPr algn="l"/>
            <a:r>
              <a:rPr sz="2000" b="0" i="0">
                <a:solidFill>
                  <a:srgbClr val="555F6E"/>
                </a:solidFill>
                <a:latin typeface="Calibri"/>
              </a:rPr>
              <a:t>Diagnosing and fixing TTFT/TPOT for a chat application running OLMoE-1B-7B on vLLM</a:t>
            </a:r>
          </a:p>
        </p:txBody>
      </p:sp>
      <p:sp>
        <p:nvSpPr>
          <p:cNvPr id="5" name="Rectangle 4"/>
          <p:cNvSpPr/>
          <p:nvPr/>
        </p:nvSpPr>
        <p:spPr>
          <a:xfrm>
            <a:off x="731520" y="448056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754880"/>
            <a:ext cx="10972800" cy="365760"/>
          </a:xfrm>
          <a:prstGeom prst="rect">
            <a:avLst/>
          </a:prstGeom>
          <a:noFill/>
        </p:spPr>
        <p:txBody>
          <a:bodyPr wrap="square" lIns="0" rIns="0" tIns="0" bIns="0">
            <a:spAutoFit/>
          </a:bodyPr>
          <a:lstStyle/>
          <a:p>
            <a:pPr algn="l"/>
            <a:r>
              <a:rPr sz="1400" b="0" i="0">
                <a:solidFill>
                  <a:srgbClr val="555F6E"/>
                </a:solidFill>
                <a:latin typeface="Calibri"/>
              </a:rPr>
              <a:t>Audience: Technical Domain Expert + VP of Strategy</a:t>
            </a:r>
          </a:p>
        </p:txBody>
      </p:sp>
      <p:sp>
        <p:nvSpPr>
          <p:cNvPr id="7" name="TextBox 6"/>
          <p:cNvSpPr txBox="1"/>
          <p:nvPr/>
        </p:nvSpPr>
        <p:spPr>
          <a:xfrm>
            <a:off x="731520" y="5120640"/>
            <a:ext cx="10972800" cy="365760"/>
          </a:xfrm>
          <a:prstGeom prst="rect">
            <a:avLst/>
          </a:prstGeom>
          <a:noFill/>
        </p:spPr>
        <p:txBody>
          <a:bodyPr wrap="square" lIns="0" rIns="0" tIns="0" bIns="0">
            <a:spAutoFit/>
          </a:bodyPr>
          <a:lstStyle/>
          <a:p>
            <a:pPr algn="l"/>
            <a:r>
              <a:rPr sz="1400" b="0" i="0">
                <a:solidFill>
                  <a:srgbClr val="555F6E"/>
                </a:solidFill>
                <a:latin typeface="Calibri"/>
              </a:rPr>
              <a:t>30-minute slot · 15 min slides · 15 min Q&amp;A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Baseline holds the SLA at light load — but degrades past ~200–600 active users</a:t>
            </a:r>
          </a:p>
          <a:p>
            <a:pPr algn="l">
              <a:spcAft>
                <a:spcPts val="600"/>
              </a:spcAft>
            </a:pPr>
            <a:r>
              <a:rPr sz="1400">
                <a:solidFill>
                  <a:srgbClr val="1F2A37"/>
                </a:solidFill>
                <a:latin typeface="Calibri"/>
              </a:rPr>
              <a:t>•  User pain: long wait before the assistant says anything once we cross that bar</a:t>
            </a:r>
          </a:p>
          <a:p>
            <a:pPr algn="l">
              <a:spcAft>
                <a:spcPts val="600"/>
              </a:spcAft>
            </a:pPr>
            <a:r>
              <a:rPr sz="1400">
                <a:solidFill>
                  <a:srgbClr val="1F2A37"/>
                </a:solidFill>
                <a:latin typeface="Calibri"/>
              </a:rPr>
              <a:t>•  Business pain: launch traffic blocked — and adding GPUs doesn't fix per-request latency</a:t>
            </a:r>
          </a:p>
          <a:p>
            <a:pPr algn="l">
              <a:spcAft>
                <a:spcPts val="600"/>
              </a:spcAft>
            </a:pPr>
            <a:r>
              <a:rPr sz="1400">
                <a:solidFill>
                  <a:srgbClr val="1F2A37"/>
                </a:solidFill>
                <a:latin typeface="Calibri"/>
              </a:rPr>
              <a:t>•  Question: how do we extend that headroom — and what doesn't help?</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400"/>
              </a:spcAft>
            </a:pPr>
            <a:r>
              <a:rPr sz="1300">
                <a:solidFill>
                  <a:srgbClr val="1F2A37"/>
                </a:solidFill>
                <a:latin typeface="Calibri"/>
              </a:rPr>
              <a:t>•  TTFT — time to first token (how long until anything appears)</a:t>
            </a:r>
          </a:p>
          <a:p>
            <a:pPr algn="l">
              <a:spcAft>
                <a:spcPts val="400"/>
              </a:spcAft>
            </a:pPr>
            <a:r>
              <a:rPr sz="1300">
                <a:solidFill>
                  <a:srgbClr val="1F2A37"/>
                </a:solidFill>
                <a:latin typeface="Calibri"/>
              </a:rPr>
              <a:t>•  TPOT — time per output token (how fast the rest stream in)</a:t>
            </a:r>
          </a:p>
          <a:p>
            <a:pPr algn="l">
              <a:spcAft>
                <a:spcPts val="400"/>
              </a:spcAft>
            </a:pPr>
            <a:r>
              <a:rPr sz="1300">
                <a:solidFill>
                  <a:srgbClr val="1F2A37"/>
                </a:solidFill>
                <a:latin typeface="Calibri"/>
              </a:rPr>
              <a:t>•  Total request time = TTFT + tokens × TPOT</a:t>
            </a:r>
          </a:p>
          <a:p>
            <a:pPr algn="l">
              <a:spcAft>
                <a:spcPts val="400"/>
              </a:spcAft>
            </a:pPr>
            <a:r>
              <a:rPr sz="1300">
                <a:solidFill>
                  <a:srgbClr val="1F2A37"/>
                </a:solidFill>
                <a:latin typeface="Calibri"/>
              </a:rPr>
              <a:t>•  Test grid: typical chat-app prompt lengths (128–1500 tokens)</a:t>
            </a:r>
          </a:p>
          <a:p>
            <a:pPr algn="l">
              <a:spcAft>
                <a:spcPts val="400"/>
              </a:spcAft>
            </a:pPr>
            <a:r>
              <a:rPr sz="1300">
                <a:solidFill>
                  <a:srgbClr val="1F2A37"/>
                </a:solidFill>
                <a:latin typeface="Calibri"/>
              </a:rPr>
              <a:t>•  Model max context: 4,096 tokens — test sizes stay well inside that</a:t>
            </a:r>
          </a:p>
          <a:p>
            <a:pPr algn="l">
              <a:spcAft>
                <a:spcPts val="400"/>
              </a:spcAft>
            </a:pPr>
            <a:r>
              <a:rPr sz="1300">
                <a:solidFill>
                  <a:srgbClr val="1F2A37"/>
                </a:solidFill>
                <a:latin typeface="Calibri"/>
              </a:rPr>
              <a:t>•  SLA: TTFT &lt; 500 ms, TPOT &lt; 30 ms at p90</a:t>
            </a:r>
          </a:p>
          <a:p>
            <a:pPr algn="l">
              <a:spcAft>
                <a:spcPts val="400"/>
              </a:spcAft>
            </a:pPr>
            <a:r>
              <a:rPr sz="1300">
                <a:solidFill>
                  <a:srgbClr val="1F2A37"/>
                </a:solidFill>
                <a:latin typeface="Calibri"/>
              </a:rPr>
              <a:t>•  Sized at batch=32 in vLLM ≈ 200–600 active users (5–15% in-flight)</a:t>
            </a:r>
          </a:p>
        </p:txBody>
      </p:sp>
      <p:sp>
        <p:nvSpPr>
          <p:cNvPr id="9" name="TextBox 8"/>
          <p:cNvSpPr txBox="1"/>
          <p:nvPr/>
        </p:nvSpPr>
        <p:spPr>
          <a:xfrm>
            <a:off x="7589520" y="5989320"/>
            <a:ext cx="4206240" cy="457200"/>
          </a:xfrm>
          <a:prstGeom prst="rect">
            <a:avLst/>
          </a:prstGeom>
          <a:noFill/>
        </p:spPr>
        <p:txBody>
          <a:bodyPr wrap="square" lIns="0" rIns="0" tIns="0" bIns="0">
            <a:spAutoFit/>
          </a:bodyPr>
          <a:lstStyle/>
          <a:p>
            <a:pPr algn="l"/>
            <a:r>
              <a:rPr sz="900" b="0" i="1">
                <a:solidFill>
                  <a:srgbClr val="555F6E"/>
                </a:solidFill>
                <a:latin typeface="Calibri"/>
              </a:rPr>
              <a:t>SLA targets are common public references (Doherty threshold ≈ 400 ms; 33 tok/s ≈ 5× human reading speed).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0">
                          <a:solidFill>
                            <a:srgbClr val="1F2A37"/>
                          </a:solidFill>
                          <a:latin typeface="Calibri"/>
                        </a:rPr>
                        <a:t>19.6</a:t>
                      </a:r>
                    </a:p>
                  </a:txBody>
                  <a:tcPr marL="60000" marR="60000" marT="40000" marB="40000" anchor="ctr">
                    <a:solidFill>
                      <a:srgbClr val="FFFFFF"/>
                    </a:solidFill>
                  </a:tcPr>
                </a:tc>
                <a:tc>
                  <a:txBody>
                    <a:bodyPr/>
                    <a:lstStyle/>
                    <a:p>
                      <a:r>
                        <a:rPr sz="1500" b="0">
                          <a:solidFill>
                            <a:srgbClr val="1F2A37"/>
                          </a:solidFill>
                          <a:latin typeface="Calibri"/>
                        </a:rPr>
                        <a:t>19.6</a:t>
                      </a:r>
                    </a:p>
                  </a:txBody>
                  <a:tcPr marL="60000" marR="60000" marT="40000" marB="40000" anchor="ctr">
                    <a:solidFill>
                      <a:srgbClr val="FFFFFF"/>
                    </a:solidFill>
                  </a:tcPr>
                </a:tc>
                <a:tc>
                  <a:txBody>
                    <a:bodyPr/>
                    <a:lstStyle/>
                    <a:p>
                      <a:r>
                        <a:rPr sz="1500" b="0">
                          <a:solidFill>
                            <a:srgbClr val="1F2A37"/>
                          </a:solidFill>
                          <a:latin typeface="Calibri"/>
                        </a:rPr>
                        <a:t>565</a:t>
                      </a:r>
                    </a:p>
                  </a:txBody>
                  <a:tcPr marL="60000" marR="60000" marT="40000" marB="40000" anchor="ctr">
                    <a:solidFill>
                      <a:srgbClr val="FFFFFF"/>
                    </a:solidFill>
                  </a:tcPr>
                </a:tc>
                <a:tc>
                  <a:txBody>
                    <a:bodyPr/>
                    <a:lstStyle/>
                    <a:p>
                      <a:r>
                        <a:rPr sz="1500" b="0">
                          <a:solidFill>
                            <a:srgbClr val="1F2A37"/>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0">
                          <a:solidFill>
                            <a:srgbClr val="1F2A37"/>
                          </a:solidFill>
                          <a:latin typeface="Calibri"/>
                        </a:rPr>
                        <a:t>25.1</a:t>
                      </a:r>
                    </a:p>
                  </a:txBody>
                  <a:tcPr marL="60000" marR="60000" marT="40000" marB="40000" anchor="ctr">
                    <a:solidFill>
                      <a:srgbClr val="FAFBFC"/>
                    </a:solidFill>
                  </a:tcPr>
                </a:tc>
                <a:tc>
                  <a:txBody>
                    <a:bodyPr/>
                    <a:lstStyle/>
                    <a:p>
                      <a:r>
                        <a:rPr sz="1500" b="0">
                          <a:solidFill>
                            <a:srgbClr val="1F2A37"/>
                          </a:solidFill>
                          <a:latin typeface="Calibri"/>
                        </a:rPr>
                        <a:t>25.1</a:t>
                      </a:r>
                    </a:p>
                  </a:txBody>
                  <a:tcPr marL="60000" marR="60000" marT="40000" marB="40000" anchor="ctr">
                    <a:solidFill>
                      <a:srgbClr val="FAFBFC"/>
                    </a:solidFill>
                  </a:tcPr>
                </a:tc>
                <a:tc>
                  <a:txBody>
                    <a:bodyPr/>
                    <a:lstStyle/>
                    <a:p>
                      <a:r>
                        <a:rPr sz="1500" b="0">
                          <a:solidFill>
                            <a:srgbClr val="1F2A37"/>
                          </a:solidFill>
                          <a:latin typeface="Calibri"/>
                        </a:rPr>
                        <a:t>603</a:t>
                      </a:r>
                    </a:p>
                  </a:txBody>
                  <a:tcPr marL="60000" marR="60000" marT="40000" marB="40000" anchor="ctr">
                    <a:solidFill>
                      <a:srgbClr val="FAFBFC"/>
                    </a:solidFill>
                  </a:tcPr>
                </a:tc>
                <a:tc>
                  <a:txBody>
                    <a:bodyPr/>
                    <a:lstStyle/>
                    <a:p>
                      <a:r>
                        <a:rPr sz="1500" b="0">
                          <a:solidFill>
                            <a:srgbClr val="1F2A37"/>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Run-to-run variation is under a millisecond — any improvement I measure from here is real, not random.</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159390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grouped-GEMM on tensor cores — owns ~80% of prefill</a:t>
            </a:r>
          </a:p>
          <a:p>
            <a:pPr algn="l">
              <a:spcAft>
                <a:spcPts val="600"/>
              </a:spcAft>
            </a:pPr>
            <a:r>
              <a:rPr sz="1400">
                <a:solidFill>
                  <a:srgbClr val="1F2A37"/>
                </a:solidFill>
                <a:latin typeface="Calibri"/>
              </a:rPr>
              <a:t>•  Decode is memory-bandwidth-bound on projection-weight loads</a:t>
            </a:r>
          </a:p>
          <a:p>
            <a:pPr algn="l">
              <a:spcAft>
                <a:spcPts val="600"/>
              </a:spcAft>
            </a:pPr>
            <a:r>
              <a:rPr sz="1400">
                <a:solidFill>
                  <a:srgbClr val="1F2A37"/>
                </a:solidFill>
                <a:latin typeface="Calibri"/>
              </a:rPr>
              <a:t>•  Hot path is already production-tuned in vLLM — no kernel headroom</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17% faster end-to-end,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40% faster on shared prompts</a:t>
                      </a:r>
                    </a:p>
                  </a:txBody>
                  <a:tcPr marL="60000" marR="60000" marT="40000" marB="40000" anchor="ctr">
                    <a:solidFill>
                      <a:srgbClr val="FAFBFC"/>
                    </a:solidFill>
                  </a:tcPr>
                </a:tc>
              </a:tr>
              <a:tr h="512064">
                <a:tc>
                  <a:txBody>
                    <a:bodyPr/>
                    <a:lstStyle/>
                    <a:p>
                      <a:r>
                        <a:rPr sz="1500" b="0">
                          <a:solidFill>
                            <a:srgbClr val="1F2A37"/>
                          </a:solidFill>
                          <a:latin typeface="Calibri"/>
                        </a:rPr>
                        <a:t>Continuous batching</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up to 5676 tokens/sec across in-flight requests</a:t>
                      </a:r>
                    </a:p>
                  </a:txBody>
                  <a:tcPr marL="60000" marR="60000" marT="40000" marB="40000" anchor="ctr">
                    <a:solidFill>
                      <a:srgbClr val="FFFFFF"/>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TTFT — three approaches compared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ttft_vs_length.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TPOT — three approaches compared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tpot_vs_length.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Prefix caching — payoff scales with shared-prefix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prefix_caching.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IMPACT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 throughput rises, per-request TPOT degrades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5486400" cy="274320"/>
          </a:xfrm>
          <a:prstGeom prst="rect">
            <a:avLst/>
          </a:prstGeom>
          <a:noFill/>
        </p:spPr>
        <p:txBody>
          <a:bodyPr wrap="square" lIns="0" rIns="0" tIns="0" bIns="0">
            <a:spAutoFit/>
          </a:bodyPr>
          <a:lstStyle/>
          <a:p>
            <a:pPr algn="l"/>
            <a:r>
              <a:rPr sz="1100" b="1" i="0">
                <a:solidFill>
                  <a:srgbClr val="2E66C2"/>
                </a:solidFill>
                <a:latin typeface="Calibri"/>
              </a:rPr>
              <a:t>COST SAVINGS</a:t>
            </a:r>
          </a:p>
        </p:txBody>
      </p:sp>
      <p:sp>
        <p:nvSpPr>
          <p:cNvPr id="6" name="TextBox 5"/>
          <p:cNvSpPr txBox="1"/>
          <p:nvPr/>
        </p:nvSpPr>
        <p:spPr>
          <a:xfrm>
            <a:off x="548640" y="2057400"/>
            <a:ext cx="5486400" cy="548640"/>
          </a:xfrm>
          <a:prstGeom prst="rect">
            <a:avLst/>
          </a:prstGeom>
          <a:noFill/>
        </p:spPr>
        <p:txBody>
          <a:bodyPr wrap="square" lIns="0" rIns="0" tIns="0" bIns="0">
            <a:spAutoFit/>
          </a:bodyPr>
          <a:lstStyle/>
          <a:p>
            <a:pPr algn="l"/>
            <a:r>
              <a:rPr sz="2600" b="1" i="0">
                <a:solidFill>
                  <a:srgbClr val="1F2A37"/>
                </a:solidFill>
                <a:latin typeface="Calibri"/>
              </a:rPr>
              <a:t>~40% fewer GPU-hours</a:t>
            </a:r>
          </a:p>
        </p:txBody>
      </p:sp>
      <p:sp>
        <p:nvSpPr>
          <p:cNvPr id="7" name="TextBox 6"/>
          <p:cNvSpPr txBox="1"/>
          <p:nvPr/>
        </p:nvSpPr>
        <p:spPr>
          <a:xfrm>
            <a:off x="548640" y="2743200"/>
            <a:ext cx="5486400" cy="1371600"/>
          </a:xfrm>
          <a:prstGeom prst="rect">
            <a:avLst/>
          </a:prstGeom>
          <a:noFill/>
        </p:spPr>
        <p:txBody>
          <a:bodyPr wrap="square" lIns="0" rIns="0" tIns="0" bIns="0">
            <a:spAutoFit/>
          </a:bodyPr>
          <a:lstStyle/>
          <a:p>
            <a:pPr algn="l"/>
            <a:r>
              <a:rPr sz="1400" b="0" i="0">
                <a:solidFill>
                  <a:srgbClr val="555F6E"/>
                </a:solidFill>
                <a:latin typeface="Calibri"/>
              </a:rPr>
              <a:t>FP8 + prefix caching cut compute per request. At $2–4 per GPU-hour on EKS, a 40% reduction on a 2-GPU node running 24/7 = ~$14K–28K per month saved per node.</a:t>
            </a:r>
          </a:p>
        </p:txBody>
      </p:sp>
      <p:sp>
        <p:nvSpPr>
          <p:cNvPr id="8" name="TextBox 7"/>
          <p:cNvSpPr txBox="1"/>
          <p:nvPr/>
        </p:nvSpPr>
        <p:spPr>
          <a:xfrm>
            <a:off x="548640" y="4160520"/>
            <a:ext cx="5486400" cy="548640"/>
          </a:xfrm>
          <a:prstGeom prst="rect">
            <a:avLst/>
          </a:prstGeom>
          <a:noFill/>
        </p:spPr>
        <p:txBody>
          <a:bodyPr wrap="square" lIns="0" rIns="0" tIns="0" bIns="0">
            <a:spAutoFit/>
          </a:bodyPr>
          <a:lstStyle/>
          <a:p>
            <a:pPr algn="l"/>
            <a:r>
              <a:rPr sz="2200" b="1" i="0">
                <a:solidFill>
                  <a:srgbClr val="1F2A37"/>
                </a:solidFill>
                <a:latin typeface="Calibri"/>
              </a:rPr>
              <a:t>Break-even: Day 1</a:t>
            </a:r>
          </a:p>
        </p:txBody>
      </p:sp>
      <p:sp>
        <p:nvSpPr>
          <p:cNvPr id="9" name="TextBox 8"/>
          <p:cNvSpPr txBox="1"/>
          <p:nvPr/>
        </p:nvSpPr>
        <p:spPr>
          <a:xfrm>
            <a:off x="548640" y="4800600"/>
            <a:ext cx="5486400" cy="914400"/>
          </a:xfrm>
          <a:prstGeom prst="rect">
            <a:avLst/>
          </a:prstGeom>
          <a:noFill/>
        </p:spPr>
        <p:txBody>
          <a:bodyPr wrap="square" lIns="0" rIns="0" tIns="0" bIns="0">
            <a:spAutoFit/>
          </a:bodyPr>
          <a:lstStyle/>
          <a:p>
            <a:pPr algn="l"/>
            <a:r>
              <a:rPr sz="1400" b="0" i="0">
                <a:solidFill>
                  <a:srgbClr val="555F6E"/>
                </a:solidFill>
                <a:latin typeface="Calibri"/>
              </a:rPr>
              <a:t>Both optimizations are config changes only — no new hardware, no downtime.</a:t>
            </a:r>
          </a:p>
        </p:txBody>
      </p:sp>
      <p:sp>
        <p:nvSpPr>
          <p:cNvPr id="10" name="TextBox 9"/>
          <p:cNvSpPr txBox="1"/>
          <p:nvPr/>
        </p:nvSpPr>
        <p:spPr>
          <a:xfrm>
            <a:off x="6400800" y="1691640"/>
            <a:ext cx="5486400" cy="274320"/>
          </a:xfrm>
          <a:prstGeom prst="rect">
            <a:avLst/>
          </a:prstGeom>
          <a:noFill/>
        </p:spPr>
        <p:txBody>
          <a:bodyPr wrap="square" lIns="0" rIns="0" tIns="0" bIns="0">
            <a:spAutoFit/>
          </a:bodyPr>
          <a:lstStyle/>
          <a:p>
            <a:pPr algn="l"/>
            <a:r>
              <a:rPr sz="1100" b="1" i="0">
                <a:solidFill>
                  <a:srgbClr val="2E66C2"/>
                </a:solidFill>
                <a:latin typeface="Calibri"/>
              </a:rPr>
              <a:t>TIME TO MARKET</a:t>
            </a:r>
          </a:p>
        </p:txBody>
      </p:sp>
      <p:sp>
        <p:nvSpPr>
          <p:cNvPr id="11" name="TextBox 10"/>
          <p:cNvSpPr txBox="1"/>
          <p:nvPr/>
        </p:nvSpPr>
        <p:spPr>
          <a:xfrm>
            <a:off x="6400800" y="2057400"/>
            <a:ext cx="5486400" cy="548640"/>
          </a:xfrm>
          <a:prstGeom prst="rect">
            <a:avLst/>
          </a:prstGeom>
          <a:noFill/>
        </p:spPr>
        <p:txBody>
          <a:bodyPr wrap="square" lIns="0" rIns="0" tIns="0" bIns="0">
            <a:spAutoFit/>
          </a:bodyPr>
          <a:lstStyle/>
          <a:p>
            <a:pPr algn="l"/>
            <a:r>
              <a:rPr sz="2600" b="1" i="0">
                <a:solidFill>
                  <a:srgbClr val="1F2A37"/>
                </a:solidFill>
                <a:latin typeface="Calibri"/>
              </a:rPr>
              <a:t>Launch unblocked</a:t>
            </a:r>
          </a:p>
        </p:txBody>
      </p:sp>
      <p:sp>
        <p:nvSpPr>
          <p:cNvPr id="12" name="TextBox 11"/>
          <p:cNvSpPr txBox="1"/>
          <p:nvPr/>
        </p:nvSpPr>
        <p:spPr>
          <a:xfrm>
            <a:off x="6400800" y="2743200"/>
            <a:ext cx="5486400" cy="1371600"/>
          </a:xfrm>
          <a:prstGeom prst="rect">
            <a:avLst/>
          </a:prstGeom>
          <a:noFill/>
        </p:spPr>
        <p:txBody>
          <a:bodyPr wrap="square" lIns="0" rIns="0" tIns="0" bIns="0">
            <a:spAutoFit/>
          </a:bodyPr>
          <a:lstStyle/>
          <a:p>
            <a:pPr algn="l"/>
            <a:r>
              <a:rPr sz="1400" b="0" i="0">
                <a:solidFill>
                  <a:srgbClr val="555F6E"/>
                </a:solidFill>
                <a:latin typeface="Calibri"/>
              </a:rPr>
              <a:t>Baseline holds the SLA up to ~200–600 active users per pod (batch=32 in flight). FP8 + prefix caching extend that headroom.</a:t>
            </a:r>
          </a:p>
        </p:txBody>
      </p:sp>
      <p:sp>
        <p:nvSpPr>
          <p:cNvPr id="13" name="TextBox 12"/>
          <p:cNvSpPr txBox="1"/>
          <p:nvPr/>
        </p:nvSpPr>
        <p:spPr>
          <a:xfrm>
            <a:off x="6400800" y="4160520"/>
            <a:ext cx="5486400" cy="548640"/>
          </a:xfrm>
          <a:prstGeom prst="rect">
            <a:avLst/>
          </a:prstGeom>
          <a:noFill/>
        </p:spPr>
        <p:txBody>
          <a:bodyPr wrap="square" lIns="0" rIns="0" tIns="0" bIns="0">
            <a:spAutoFit/>
          </a:bodyPr>
          <a:lstStyle/>
          <a:p>
            <a:pPr algn="l"/>
            <a:r>
              <a:rPr sz="2200" b="1" i="0">
                <a:solidFill>
                  <a:srgbClr val="1F2A37"/>
                </a:solidFill>
                <a:latin typeface="Calibri"/>
              </a:rPr>
              <a:t>10× headroom built in</a:t>
            </a:r>
          </a:p>
        </p:txBody>
      </p:sp>
      <p:sp>
        <p:nvSpPr>
          <p:cNvPr id="14" name="TextBox 13"/>
          <p:cNvSpPr txBox="1"/>
          <p:nvPr/>
        </p:nvSpPr>
        <p:spPr>
          <a:xfrm>
            <a:off x="6400800" y="4800600"/>
            <a:ext cx="5486400" cy="1371600"/>
          </a:xfrm>
          <a:prstGeom prst="rect">
            <a:avLst/>
          </a:prstGeom>
          <a:noFill/>
        </p:spPr>
        <p:txBody>
          <a:bodyPr wrap="square" lIns="0" rIns="0" tIns="0" bIns="0">
            <a:spAutoFit/>
          </a:bodyPr>
          <a:lstStyle/>
          <a:p>
            <a:pPr algn="l"/>
            <a:r>
              <a:rPr sz="1400" b="0" i="0">
                <a:solidFill>
                  <a:srgbClr val="555F6E"/>
                </a:solidFill>
                <a:latin typeface="Calibri"/>
              </a:rPr>
              <a:t>The scale plan (FP8 → concurrency tuning → tensor parallel → horizontal scale) means no re-architecture when traffic grows.</a:t>
            </a:r>
          </a:p>
        </p:txBody>
      </p:sp>
      <p:sp>
        <p:nvSpPr>
          <p:cNvPr id="15" name="TextBox 14"/>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6" name="TextBox 15"/>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40% TTFT cut on shared prompts</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Increased concurrency</a:t>
                      </a:r>
                    </a:p>
                  </a:txBody>
                  <a:tcPr marL="60000" marR="60000" marT="40000" marB="40000" anchor="ctr">
                    <a:solidFill>
                      <a:srgbClr val="FAFBFC"/>
                    </a:solidFill>
                  </a:tcPr>
                </a:tc>
                <a:tc>
                  <a:txBody>
                    <a:bodyPr/>
                    <a:lstStyle/>
                    <a:p>
                      <a:r>
                        <a:rPr sz="1200" b="0">
                          <a:solidFill>
                            <a:srgbClr val="1F2A37"/>
                          </a:solidFill>
                          <a:latin typeface="Calibri"/>
                        </a:rPr>
                        <a:t>Up to 5,676 tok/sec throughput</a:t>
                      </a:r>
                    </a:p>
                  </a:txBody>
                  <a:tcPr marL="60000" marR="60000" marT="40000" marB="40000" anchor="ctr">
                    <a:solidFill>
                      <a:srgbClr val="FAFBFC"/>
                    </a:solidFill>
                  </a:tcPr>
                </a:tc>
                <a:tc>
                  <a:txBody>
                    <a:bodyPr/>
                    <a:lstStyle/>
                    <a:p>
                      <a:r>
                        <a:rPr sz="1200" b="0">
                          <a:solidFill>
                            <a:srgbClr val="1F2A37"/>
                          </a:solidFill>
                          <a:latin typeface="Calibri"/>
                        </a:rPr>
                        <a:t>Latency per user rises under high load</a:t>
                      </a:r>
                    </a:p>
                  </a:txBody>
                  <a:tcPr marL="60000" marR="60000" marT="40000" marB="40000" anchor="ctr">
                    <a:solidFill>
                      <a:srgbClr val="FAFBFC"/>
                    </a:solidFill>
                  </a:tcPr>
                </a:tc>
                <a:tc>
                  <a:txBody>
                    <a:bodyPr/>
                    <a:lstStyle/>
                    <a:p>
                      <a:r>
                        <a:rPr sz="1200" b="0">
                          <a:solidFill>
                            <a:srgbClr val="1F2A37"/>
                          </a:solidFill>
                          <a:latin typeface="Calibri"/>
                        </a:rPr>
                        <a:t>Set max_num_seqs from p90 TTFT SLA, not throughput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SCALE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If traffic grows 10× tomorrow</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206240"/>
        </p:xfrm>
        <a:graphic>
          <a:graphicData uri="http://schemas.openxmlformats.org/drawingml/2006/table">
            <a:tbl>
              <a:tblPr firstRow="1" bandRow="1">
                <a:tableStyleId>{5C22544A-7EE6-4342-B048-85BDC9FD1C3A}</a:tableStyleId>
              </a:tblPr>
              <a:tblGrid>
                <a:gridCol w="457200"/>
                <a:gridCol w="3108960"/>
                <a:gridCol w="3291840"/>
                <a:gridCol w="4572000"/>
              </a:tblGrid>
              <a:tr h="701040">
                <a:tc>
                  <a:txBody>
                    <a:bodyPr/>
                    <a:lstStyle/>
                    <a:p>
                      <a:r>
                        <a:rPr sz="1200" b="1">
                          <a:solidFill>
                            <a:srgbClr val="555F6E"/>
                          </a:solidFill>
                          <a:latin typeface="Calibri"/>
                        </a:rPr>
                        <a:t>#</a:t>
                      </a:r>
                    </a:p>
                  </a:txBody>
                  <a:tcPr marL="60000" marR="60000" marT="40000" marB="40000" anchor="ctr">
                    <a:solidFill>
                      <a:srgbClr val="F2F4F7"/>
                    </a:solidFill>
                  </a:tcPr>
                </a:tc>
                <a:tc>
                  <a:txBody>
                    <a:bodyPr/>
                    <a:lstStyle/>
                    <a:p>
                      <a:r>
                        <a:rPr sz="1200" b="1">
                          <a:solidFill>
                            <a:srgbClr val="555F6E"/>
                          </a:solidFill>
                          <a:latin typeface="Calibri"/>
                        </a:rPr>
                        <a:t>Action</a:t>
                      </a:r>
                    </a:p>
                  </a:txBody>
                  <a:tcPr marL="60000" marR="60000" marT="40000" marB="40000" anchor="ctr">
                    <a:solidFill>
                      <a:srgbClr val="F2F4F7"/>
                    </a:solidFill>
                  </a:tcPr>
                </a:tc>
                <a:tc>
                  <a:txBody>
                    <a:bodyPr/>
                    <a:lstStyle/>
                    <a:p>
                      <a:r>
                        <a:rPr sz="1200" b="1">
                          <a:solidFill>
                            <a:srgbClr val="555F6E"/>
                          </a:solidFill>
                          <a:latin typeface="Calibri"/>
                        </a:rPr>
                        <a:t>Why now</a:t>
                      </a:r>
                    </a:p>
                  </a:txBody>
                  <a:tcPr marL="60000" marR="60000" marT="40000" marB="40000" anchor="ctr">
                    <a:solidFill>
                      <a:srgbClr val="F2F4F7"/>
                    </a:solidFill>
                  </a:tcPr>
                </a:tc>
                <a:tc>
                  <a:txBody>
                    <a:bodyPr/>
                    <a:lstStyle/>
                    <a:p>
                      <a:r>
                        <a:rPr sz="1200" b="1">
                          <a:solidFill>
                            <a:srgbClr val="555F6E"/>
                          </a:solidFill>
                          <a:latin typeface="Calibri"/>
                        </a:rPr>
                        <a:t>Breaks when</a:t>
                      </a:r>
                    </a:p>
                  </a:txBody>
                  <a:tcPr marL="60000" marR="60000" marT="40000" marB="40000" anchor="ctr">
                    <a:solidFill>
                      <a:srgbClr val="F2F4F7"/>
                    </a:solidFill>
                  </a:tcPr>
                </a:tc>
              </a:tr>
              <a:tr h="701040">
                <a:tc>
                  <a:txBody>
                    <a:bodyPr/>
                    <a:lstStyle/>
                    <a:p>
                      <a:r>
                        <a:rPr sz="1200" b="0">
                          <a:solidFill>
                            <a:srgbClr val="1F2A37"/>
                          </a:solidFill>
                          <a:latin typeface="Calibri"/>
                        </a:rPr>
                        <a:t>1</a:t>
                      </a:r>
                    </a:p>
                  </a:txBody>
                  <a:tcPr marL="60000" marR="60000" marT="40000" marB="40000" anchor="ctr">
                    <a:solidFill>
                      <a:srgbClr val="FFFFFF"/>
                    </a:solidFill>
                  </a:tcPr>
                </a:tc>
                <a:tc>
                  <a:txBody>
                    <a:bodyPr/>
                    <a:lstStyle/>
                    <a:p>
                      <a:r>
                        <a:rPr sz="1200" b="0">
                          <a:solidFill>
                            <a:srgbClr val="1F2A37"/>
                          </a:solidFill>
                          <a:latin typeface="Calibri"/>
                        </a:rPr>
                        <a:t>Enable FP8 + prefix caching</a:t>
                      </a:r>
                    </a:p>
                  </a:txBody>
                  <a:tcPr marL="60000" marR="60000" marT="40000" marB="40000" anchor="ctr">
                    <a:solidFill>
                      <a:srgbClr val="FFFFFF"/>
                    </a:solidFill>
                  </a:tcPr>
                </a:tc>
                <a:tc>
                  <a:txBody>
                    <a:bodyPr/>
                    <a:lstStyle/>
                    <a:p>
                      <a:r>
                        <a:rPr sz="1200" b="0">
                          <a:solidFill>
                            <a:srgbClr val="1F2A37"/>
                          </a:solidFill>
                          <a:latin typeface="Calibri"/>
                        </a:rPr>
                        <a:t>Free, today — config only</a:t>
                      </a:r>
                    </a:p>
                  </a:txBody>
                  <a:tcPr marL="60000" marR="60000" marT="40000" marB="40000" anchor="ctr">
                    <a:solidFill>
                      <a:srgbClr val="FFFFFF"/>
                    </a:solidFill>
                  </a:tcPr>
                </a:tc>
                <a:tc>
                  <a:txBody>
                    <a:bodyPr/>
                    <a:lstStyle/>
                    <a:p>
                      <a:r>
                        <a:rPr sz="1200" b="0">
                          <a:solidFill>
                            <a:srgbClr val="1F2A37"/>
                          </a:solidFill>
                          <a:latin typeface="Calibri"/>
                        </a:rPr>
                        <a:t>Accuracy regresses on customer evals, or prompts don't share prefixes</a:t>
                      </a:r>
                    </a:p>
                  </a:txBody>
                  <a:tcPr marL="60000" marR="60000" marT="40000" marB="40000" anchor="ctr">
                    <a:solidFill>
                      <a:srgbClr val="FFFFFF"/>
                    </a:solidFill>
                  </a:tcPr>
                </a:tc>
              </a:tr>
              <a:tr h="701040">
                <a:tc>
                  <a:txBody>
                    <a:bodyPr/>
                    <a:lstStyle/>
                    <a:p>
                      <a:r>
                        <a:rPr sz="1200" b="0">
                          <a:solidFill>
                            <a:srgbClr val="1F2A37"/>
                          </a:solidFill>
                          <a:latin typeface="Calibri"/>
                        </a:rPr>
                        <a:t>2</a:t>
                      </a:r>
                    </a:p>
                  </a:txBody>
                  <a:tcPr marL="60000" marR="60000" marT="40000" marB="40000" anchor="ctr">
                    <a:solidFill>
                      <a:srgbClr val="FAFBFC"/>
                    </a:solidFill>
                  </a:tcPr>
                </a:tc>
                <a:tc>
                  <a:txBody>
                    <a:bodyPr/>
                    <a:lstStyle/>
                    <a:p>
                      <a:r>
                        <a:rPr sz="1200" b="0">
                          <a:solidFill>
                            <a:srgbClr val="1F2A37"/>
                          </a:solidFill>
                          <a:latin typeface="Calibri"/>
                        </a:rPr>
                        <a:t>Tune concurrency to the SLA</a:t>
                      </a:r>
                    </a:p>
                  </a:txBody>
                  <a:tcPr marL="60000" marR="60000" marT="40000" marB="40000" anchor="ctr">
                    <a:solidFill>
                      <a:srgbClr val="FAFBFC"/>
                    </a:solidFill>
                  </a:tcPr>
                </a:tc>
                <a:tc>
                  <a:txBody>
                    <a:bodyPr/>
                    <a:lstStyle/>
                    <a:p>
                      <a:r>
                        <a:rPr sz="1200" b="0">
                          <a:solidFill>
                            <a:srgbClr val="1F2A37"/>
                          </a:solidFill>
                          <a:latin typeface="Calibri"/>
                        </a:rPr>
                        <a:t>Same pod, no new hardware</a:t>
                      </a:r>
                    </a:p>
                  </a:txBody>
                  <a:tcPr marL="60000" marR="60000" marT="40000" marB="40000" anchor="ctr">
                    <a:solidFill>
                      <a:srgbClr val="FAFBFC"/>
                    </a:solidFill>
                  </a:tcPr>
                </a:tc>
                <a:tc>
                  <a:txBody>
                    <a:bodyPr/>
                    <a:lstStyle/>
                    <a:p>
                      <a:r>
                        <a:rPr sz="1200" b="0">
                          <a:solidFill>
                            <a:srgbClr val="1F2A37"/>
                          </a:solidFill>
                          <a:latin typeface="Calibri"/>
                        </a:rPr>
                        <a:t>Sustained load exceeds ~200–600 active users per pod (batch=32 in flight)</a:t>
                      </a:r>
                    </a:p>
                  </a:txBody>
                  <a:tcPr marL="60000" marR="60000" marT="40000" marB="40000" anchor="ctr">
                    <a:solidFill>
                      <a:srgbClr val="FAFBFC"/>
                    </a:solidFill>
                  </a:tcPr>
                </a:tc>
              </a:tr>
              <a:tr h="701040">
                <a:tc>
                  <a:txBody>
                    <a:bodyPr/>
                    <a:lstStyle/>
                    <a:p>
                      <a:r>
                        <a:rPr sz="1200" b="0">
                          <a:solidFill>
                            <a:srgbClr val="1F2A37"/>
                          </a:solidFill>
                          <a:latin typeface="Calibri"/>
                        </a:rPr>
                        <a:t>3</a:t>
                      </a:r>
                    </a:p>
                  </a:txBody>
                  <a:tcPr marL="60000" marR="60000" marT="40000" marB="40000" anchor="ctr">
                    <a:solidFill>
                      <a:srgbClr val="FFFFFF"/>
                    </a:solidFill>
                  </a:tcPr>
                </a:tc>
                <a:tc>
                  <a:txBody>
                    <a:bodyPr/>
                    <a:lstStyle/>
                    <a:p>
                      <a:r>
                        <a:rPr sz="1200" b="0">
                          <a:solidFill>
                            <a:srgbClr val="1F2A37"/>
                          </a:solidFill>
                          <a:latin typeface="Calibri"/>
                        </a:rPr>
                        <a:t>Use both GPUs together (TP=2)</a:t>
                      </a:r>
                    </a:p>
                  </a:txBody>
                  <a:tcPr marL="60000" marR="60000" marT="40000" marB="40000" anchor="ctr">
                    <a:solidFill>
                      <a:srgbClr val="FFFFFF"/>
                    </a:solidFill>
                  </a:tcPr>
                </a:tc>
                <a:tc>
                  <a:txBody>
                    <a:bodyPr/>
                    <a:lstStyle/>
                    <a:p>
                      <a:r>
                        <a:rPr sz="1200" b="0">
                          <a:solidFill>
                            <a:srgbClr val="1F2A37"/>
                          </a:solidFill>
                          <a:latin typeface="Calibri"/>
                        </a:rPr>
                        <a:t>Same node, +14% TPOT, 2× memory</a:t>
                      </a:r>
                    </a:p>
                  </a:txBody>
                  <a:tcPr marL="60000" marR="60000" marT="40000" marB="40000" anchor="ctr">
                    <a:solidFill>
                      <a:srgbClr val="FFFFFF"/>
                    </a:solidFill>
                  </a:tcPr>
                </a:tc>
                <a:tc>
                  <a:txBody>
                    <a:bodyPr/>
                    <a:lstStyle/>
                    <a:p>
                      <a:r>
                        <a:rPr sz="1200" b="0">
                          <a:solidFill>
                            <a:srgbClr val="1F2A37"/>
                          </a:solidFill>
                          <a:latin typeface="Calibri"/>
                        </a:rPr>
                        <a:t>One pod still saturated — need more pods, not bigger ones</a:t>
                      </a:r>
                    </a:p>
                  </a:txBody>
                  <a:tcPr marL="60000" marR="60000" marT="40000" marB="40000" anchor="ctr">
                    <a:solidFill>
                      <a:srgbClr val="FFFFFF"/>
                    </a:solidFill>
                  </a:tcPr>
                </a:tc>
              </a:tr>
              <a:tr h="701040">
                <a:tc>
                  <a:txBody>
                    <a:bodyPr/>
                    <a:lstStyle/>
                    <a:p>
                      <a:r>
                        <a:rPr sz="1200" b="0">
                          <a:solidFill>
                            <a:srgbClr val="1F2A37"/>
                          </a:solidFill>
                          <a:latin typeface="Calibri"/>
                        </a:rPr>
                        <a:t>4</a:t>
                      </a:r>
                    </a:p>
                  </a:txBody>
                  <a:tcPr marL="60000" marR="60000" marT="40000" marB="40000" anchor="ctr">
                    <a:solidFill>
                      <a:srgbClr val="FAFBFC"/>
                    </a:solidFill>
                  </a:tcPr>
                </a:tc>
                <a:tc>
                  <a:txBody>
                    <a:bodyPr/>
                    <a:lstStyle/>
                    <a:p>
                      <a:r>
                        <a:rPr sz="1200" b="0">
                          <a:solidFill>
                            <a:srgbClr val="1F2A37"/>
                          </a:solidFill>
                          <a:latin typeface="Calibri"/>
                        </a:rPr>
                        <a:t>Horizontal pod autoscaling (HPA)</a:t>
                      </a:r>
                    </a:p>
                  </a:txBody>
                  <a:tcPr marL="60000" marR="60000" marT="40000" marB="40000" anchor="ctr">
                    <a:solidFill>
                      <a:srgbClr val="FAFBFC"/>
                    </a:solidFill>
                  </a:tcPr>
                </a:tc>
                <a:tc>
                  <a:txBody>
                    <a:bodyPr/>
                    <a:lstStyle/>
                    <a:p>
                      <a:r>
                        <a:rPr sz="1200" b="0">
                          <a:solidFill>
                            <a:srgbClr val="1F2A37"/>
                          </a:solidFill>
                          <a:latin typeface="Calibri"/>
                        </a:rPr>
                        <a:t>Linear capacity, k8s-native</a:t>
                      </a:r>
                    </a:p>
                  </a:txBody>
                  <a:tcPr marL="60000" marR="60000" marT="40000" marB="40000" anchor="ctr">
                    <a:solidFill>
                      <a:srgbClr val="FAFBFC"/>
                    </a:solidFill>
                  </a:tcPr>
                </a:tc>
                <a:tc>
                  <a:txBody>
                    <a:bodyPr/>
                    <a:lstStyle/>
                    <a:p>
                      <a:r>
                        <a:rPr sz="1200" b="0">
                          <a:solidFill>
                            <a:srgbClr val="1F2A37"/>
                          </a:solidFill>
                          <a:latin typeface="Calibri"/>
                        </a:rPr>
                        <a:t>GPU node pool runs out of room</a:t>
                      </a:r>
                    </a:p>
                  </a:txBody>
                  <a:tcPr marL="60000" marR="60000" marT="40000" marB="40000" anchor="ctr">
                    <a:solidFill>
                      <a:srgbClr val="FAFBFC"/>
                    </a:solidFill>
                  </a:tcPr>
                </a:tc>
              </a:tr>
              <a:tr h="701040">
                <a:tc>
                  <a:txBody>
                    <a:bodyPr/>
                    <a:lstStyle/>
                    <a:p>
                      <a:r>
                        <a:rPr sz="1200" b="0">
                          <a:solidFill>
                            <a:srgbClr val="1F2A37"/>
                          </a:solidFill>
                          <a:latin typeface="Calibri"/>
                        </a:rPr>
                        <a:t>5</a:t>
                      </a:r>
                    </a:p>
                  </a:txBody>
                  <a:tcPr marL="60000" marR="60000" marT="40000" marB="40000" anchor="ctr">
                    <a:solidFill>
                      <a:srgbClr val="FFFFFF"/>
                    </a:solidFill>
                  </a:tcPr>
                </a:tc>
                <a:tc>
                  <a:txBody>
                    <a:bodyPr/>
                    <a:lstStyle/>
                    <a:p>
                      <a:r>
                        <a:rPr sz="1200" b="0">
                          <a:solidFill>
                            <a:srgbClr val="1F2A37"/>
                          </a:solidFill>
                          <a:latin typeface="Calibri"/>
                        </a:rPr>
                        <a:t>Add new GPU machines</a:t>
                      </a:r>
                    </a:p>
                  </a:txBody>
                  <a:tcPr marL="60000" marR="60000" marT="40000" marB="40000" anchor="ctr">
                    <a:solidFill>
                      <a:srgbClr val="FFFFFF"/>
                    </a:solidFill>
                  </a:tcPr>
                </a:tc>
                <a:tc>
                  <a:txBody>
                    <a:bodyPr/>
                    <a:lstStyle/>
                    <a:p>
                      <a:r>
                        <a:rPr sz="1200" b="0">
                          <a:solidFill>
                            <a:srgbClr val="1F2A37"/>
                          </a:solidFill>
                          <a:latin typeface="Calibri"/>
                        </a:rPr>
                        <a:t>Capacity beyond the current cluster</a:t>
                      </a:r>
                    </a:p>
                  </a:txBody>
                  <a:tcPr marL="60000" marR="60000" marT="40000" marB="40000" anchor="ctr">
                    <a:solidFill>
                      <a:srgbClr val="FFFFFF"/>
                    </a:solidFill>
                  </a:tcPr>
                </a:tc>
                <a:tc>
                  <a:txBody>
                    <a:bodyPr/>
                    <a:lstStyle/>
                    <a:p>
                      <a:r>
                        <a:rPr sz="1200" b="0">
                          <a:solidFill>
                            <a:srgbClr val="1F2A37"/>
                          </a:solidFill>
                          <a:latin typeface="Calibri"/>
                        </a:rPr>
                        <a:t>Last resort — triggers procurement cycle</a:t>
                      </a:r>
                    </a:p>
                  </a:txBody>
                  <a:tcPr marL="60000" marR="60000" marT="40000" marB="40000" anchor="ctr">
                    <a:solidFill>
                      <a:srgbClr val="FFFFFF"/>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Enable FP8 quantization and prefix caching this week — validate accuracy on customer evals first</a:t>
            </a:r>
          </a:p>
          <a:p>
            <a:pPr algn="l">
              <a:spcAft>
                <a:spcPts val="800"/>
              </a:spcAft>
            </a:pPr>
            <a:r>
              <a:rPr sz="2000">
                <a:solidFill>
                  <a:srgbClr val="1F2A37"/>
                </a:solidFill>
                <a:latin typeface="Calibri"/>
              </a:rPr>
              <a:t>•  Tune max_num_seqs (continuous batching) against the TTFT p90 SLA</a:t>
            </a:r>
          </a:p>
          <a:p>
            <a:pPr algn="l">
              <a:spcAft>
                <a:spcPts val="800"/>
              </a:spcAft>
            </a:pPr>
            <a:r>
              <a:rPr sz="2000">
                <a:solidFill>
                  <a:srgbClr val="1F2A37"/>
                </a:solidFill>
                <a:latin typeface="Calibri"/>
              </a:rPr>
              <a:t>•  Apply tensor parallelism (TP=2) for TPOT — 14% gain measured at single-user load, not yet measured under concurrency</a:t>
            </a:r>
          </a:p>
          <a:p>
            <a:pPr algn="l">
              <a:spcAft>
                <a:spcPts val="800"/>
              </a:spcAft>
            </a:pPr>
            <a:r>
              <a:rPr sz="2000">
                <a:solidFill>
                  <a:srgbClr val="1F2A37"/>
                </a:solidFill>
                <a:latin typeface="Calibri"/>
              </a:rPr>
              <a:t>•  Re-baseline whenever the model, vLLM version, or hardware changes</a:t>
            </a:r>
          </a:p>
        </p:txBody>
      </p:sp>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828800"/>
            <a:ext cx="7315200" cy="1645920"/>
          </a:xfrm>
          <a:prstGeom prst="rect">
            <a:avLst/>
          </a:prstGeom>
          <a:noFill/>
        </p:spPr>
        <p:txBody>
          <a:bodyPr wrap="square" lIns="0" rIns="0" tIns="0" bIns="0">
            <a:spAutoFit/>
          </a:bodyPr>
          <a:lstStyle/>
          <a:p>
            <a:pPr algn="l"/>
            <a:r>
              <a:rPr sz="9600" b="1" i="0">
                <a:solidFill>
                  <a:srgbClr val="1F2A37"/>
                </a:solidFill>
                <a:latin typeface="Calibri"/>
              </a:rPr>
              <a:t>Q&amp;A</a:t>
            </a:r>
          </a:p>
        </p:txBody>
      </p:sp>
      <p:sp>
        <p:nvSpPr>
          <p:cNvPr id="3" name="Rectangle 2"/>
          <p:cNvSpPr/>
          <p:nvPr/>
        </p:nvSpPr>
        <p:spPr>
          <a:xfrm>
            <a:off x="731520" y="365760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931920"/>
            <a:ext cx="7315200" cy="457200"/>
          </a:xfrm>
          <a:prstGeom prst="rect">
            <a:avLst/>
          </a:prstGeom>
          <a:noFill/>
        </p:spPr>
        <p:txBody>
          <a:bodyPr wrap="square" lIns="0" rIns="0" tIns="0" bIns="0">
            <a:spAutoFit/>
          </a:bodyPr>
          <a:lstStyle/>
          <a:p>
            <a:pPr algn="l"/>
            <a:r>
              <a:rPr sz="2000" b="0" i="0">
                <a:solidFill>
                  <a:srgbClr val="555F6E"/>
                </a:solidFill>
                <a:latin typeface="Calibri"/>
              </a:rPr>
              <a:t>15 minutes — fire away.</a:t>
            </a:r>
          </a:p>
        </p:txBody>
      </p:sp>
      <p:sp>
        <p:nvSpPr>
          <p:cNvPr id="5" name="TextBox 4"/>
          <p:cNvSpPr txBox="1"/>
          <p:nvPr/>
        </p:nvSpPr>
        <p:spPr>
          <a:xfrm>
            <a:off x="8778240" y="1828800"/>
            <a:ext cx="2743200" cy="274320"/>
          </a:xfrm>
          <a:prstGeom prst="rect">
            <a:avLst/>
          </a:prstGeom>
          <a:noFill/>
        </p:spPr>
        <p:txBody>
          <a:bodyPr wrap="square" lIns="0" rIns="0" tIns="0" bIns="0">
            <a:spAutoFit/>
          </a:bodyPr>
          <a:lstStyle/>
          <a:p>
            <a:pPr algn="l"/>
            <a:r>
              <a:rPr sz="1100" b="1" i="0">
                <a:solidFill>
                  <a:srgbClr val="2E66C2"/>
                </a:solidFill>
                <a:latin typeface="Calibri"/>
              </a:rPr>
              <a:t>REPO</a:t>
            </a:r>
          </a:p>
        </p:txBody>
      </p:sp>
      <p:pic>
        <p:nvPicPr>
          <p:cNvPr id="6" name="Picture 5" descr="repo_qr.png"/>
          <p:cNvPicPr>
            <a:picLocks noChangeAspect="1"/>
          </p:cNvPicPr>
          <p:nvPr/>
        </p:nvPicPr>
        <p:blipFill>
          <a:blip r:embed="rId2"/>
          <a:stretch>
            <a:fillRect/>
          </a:stretch>
        </p:blipFill>
        <p:spPr>
          <a:xfrm>
            <a:off x="8778240" y="2194560"/>
            <a:ext cx="2743200" cy="2743200"/>
          </a:xfrm>
          <a:prstGeom prst="rect">
            <a:avLst/>
          </a:prstGeom>
        </p:spPr>
      </p:pic>
      <p:sp>
        <p:nvSpPr>
          <p:cNvPr id="7" name="TextBox 6"/>
          <p:cNvSpPr txBox="1"/>
          <p:nvPr/>
        </p:nvSpPr>
        <p:spPr>
          <a:xfrm>
            <a:off x="8229600" y="5074920"/>
            <a:ext cx="3840480" cy="365760"/>
          </a:xfrm>
          <a:prstGeom prst="rect">
            <a:avLst/>
          </a:prstGeom>
          <a:noFill/>
        </p:spPr>
        <p:txBody>
          <a:bodyPr wrap="square" lIns="0" rIns="0" tIns="0" bIns="0">
            <a:spAutoFit/>
          </a:bodyPr>
          <a:lstStyle/>
          <a:p>
            <a:pPr algn="ctr"/>
            <a:r>
              <a:rPr sz="1100" b="0" i="0">
                <a:solidFill>
                  <a:srgbClr val="555F6E"/>
                </a:solidFill>
                <a:latin typeface="Calibri"/>
              </a:rPr>
              <a:t>github.com/harishvs/moe-inference-optimize</a:t>
            </a:r>
          </a:p>
        </p:txBody>
      </p:sp>
      <p:sp>
        <p:nvSpPr>
          <p:cNvPr id="8" name="TextBox 7"/>
          <p:cNvSpPr txBox="1"/>
          <p:nvPr/>
        </p:nvSpPr>
        <p:spPr>
          <a:xfrm>
            <a:off x="8229600" y="5440680"/>
            <a:ext cx="3840480" cy="365760"/>
          </a:xfrm>
          <a:prstGeom prst="rect">
            <a:avLst/>
          </a:prstGeom>
          <a:noFill/>
        </p:spPr>
        <p:txBody>
          <a:bodyPr wrap="square" lIns="0" rIns="0" tIns="0" bIns="0">
            <a:spAutoFit/>
          </a:bodyPr>
          <a:lstStyle/>
          <a:p>
            <a:pPr algn="ctr"/>
            <a:r>
              <a:rPr sz="1000" b="0" i="1">
                <a:solidFill>
                  <a:srgbClr val="555F6E"/>
                </a:solidFill>
                <a:latin typeface="Calibri"/>
              </a:rPr>
              <a:t>scan to clone the code, results, and this deck</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