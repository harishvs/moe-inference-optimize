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chart, three levers. Walk the audience across:</a:t>
            </a:r>
          </a:p>
          <a:p/>
          <a:p>
            <a:r>
              <a:t>Blue line — bf16 baseline. The shape of the problem.</a:t>
            </a:r>
          </a:p>
          <a:p/>
          <a:p>
            <a:r>
              <a:t>Green line — FP8 quantization. Consistently below baseline by 15–35%. It's a flag flip on vLLM; we'll cover the accuracy tradeoff on the next slide.</a:t>
            </a:r>
          </a:p>
          <a:p/>
          <a:p>
            <a:r>
              <a:t>Red line — TP=2 across both Blackwell GPUs. Slightly better at L=128, sits on top of the baseline at higher L. The reason is subtle: at batch=1 the per-step work is small, so the cross-GPU all-reduce dominates whatever parallelism we gain. TP=2 is a throughput lever more than a TTFT lever.</a:t>
            </a:r>
          </a:p>
          <a:p/>
          <a:p>
            <a:r>
              <a:t>The takeaway: for this chat workload, FP8 is the lever that moves TTFT. TP=2 helps when the GPU has more work per step — which is exactly the regime we'll hit when we start batching.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chat app uses a long system prompt with tool descriptions and few-shot examples — that's the right side of this chart, where the savings are largest.</a:t>
            </a:r>
          </a:p>
          <a:p/>
          <a:p>
            <a:r>
              <a:t>Left bars: short shared prompt, 13% faster first word. Middle: medium prompt, 14%. Right: long shared prompt, 40% faster.</a:t>
            </a:r>
          </a:p>
          <a:p/>
          <a:p>
            <a:r>
              <a:t>The pattern: reuse helps most when the prompt is most expensive to recompute — which is exactly when we want to skip it.</a:t>
            </a:r>
          </a:p>
          <a:p/>
          <a:p>
            <a:r>
              <a:t>Caveat for a different workload: if every request has a totally unique prompt (e.g. RAG with a different retrieved document each time), this lever does nothing.</a:t>
            </a:r>
          </a:p>
          <a:p/>
          <a:p>
            <a:r>
              <a:t>Also worth flagging if asked: lower-precision math (FP8) has its own trade-off. Three out of four standard quality benchmarks are unchanged within noise. The fourth, grade-school math, drops about 2.8 percentage points. We'd test on the customer's own evaluations before flipping that switch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VP. One curve, two stories.</a:t>
            </a:r>
          </a:p>
          <a:p/>
          <a:p>
            <a:r>
              <a:t>The bars: throughput. Same GPU, same model, same engine. Concurrency goes up, tokens-per-second-per-GPU goes up. From 397 tok/s at B=1 to 5,676 at B=128 — about 14×. Cost-per-million-tokens is the inverse of throughput, so it drops by the same factor.</a:t>
            </a:r>
          </a:p>
          <a:p/>
          <a:p>
            <a:r>
              <a:t>The line: per-user TPOT. The price of those throughput gains. At B=1, every user feels 2.3 ms per token. At B=128, every user feels 10.9 ms per token. Still streaming faster than humans read, but 5× slower per-user.</a:t>
            </a:r>
          </a:p>
          <a:p/>
          <a:p>
            <a:r>
              <a:t>What to do with this: cost-mode batch jobs run on the right of the curve, latency-mode interactive chat runs on the left. The same infrastructure handles both — different vLLM configs, same pod.</a:t>
            </a:r>
          </a:p>
          <a:p/>
          <a:p>
            <a:r>
              <a:t>Time-to-market: every lever in this talk is a configuration change. No model retraining. No risk beyond the FP8/GSM8K caveat we're explicit about. Capacity: when traffic spikes, we move right on this curve before we add new GPU pods. That delays the next CapEx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scaling playbook for the EKS shape we're in. The order matters — each step is cheaper and lower-risk than the next.</a:t>
            </a:r>
          </a:p>
          <a:p/>
          <a:p>
            <a:r>
              <a:t>Software first: FP8 + prefix caching are zero-cost wins.</a:t>
            </a:r>
          </a:p>
          <a:p/>
          <a:p>
            <a:r>
              <a:t>Configuration second: batch sizing maps to whether we're in latency mode or throughput mode. The latency target decides.</a:t>
            </a:r>
          </a:p>
          <a:p/>
          <a:p>
            <a:r>
              <a:t>Vertical sharding third: TP=2 inside one pod uses both GPUs on a single Blackwell node. Lowers TTFT for the latency-sensitive case at the cost of pod scheduling complexity. Fits the single-host topology we have today.</a:t>
            </a:r>
          </a:p>
          <a:p/>
          <a:p>
            <a:r>
              <a:t>Horizontal fourth: HPA. Kubernetes-native. As long as we have spare GPU node capacity, this absorbs traffic without an engineer in the loop.</a:t>
            </a:r>
          </a:p>
          <a:p/>
          <a:p>
            <a:r>
              <a:t>New nodes last. Most expensive lever; triggers cluster-autoscaler. We push that as far right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1005840"/>
          </a:xfrm>
          <a:prstGeom prst="rect">
            <a:avLst/>
          </a:prstGeom>
          <a:noFill/>
        </p:spPr>
        <p:txBody>
          <a:bodyPr wrap="square" lIns="0" rIns="0" tIns="0" bIns="0">
            <a:spAutoFit/>
          </a:bodyPr>
          <a:lstStyle/>
          <a:p>
            <a:pPr algn="l"/>
            <a:r>
              <a:rPr sz="4400" b="1" i="0">
                <a:solidFill>
                  <a:srgbClr val="1F2A37"/>
                </a:solidFill>
                <a:latin typeface="Calibri"/>
              </a:rPr>
              <a:t>Inference latency on EKS</a:t>
            </a:r>
          </a:p>
        </p:txBody>
      </p:sp>
      <p:sp>
        <p:nvSpPr>
          <p:cNvPr id="4" name="TextBox 3"/>
          <p:cNvSpPr txBox="1"/>
          <p:nvPr/>
        </p:nvSpPr>
        <p:spPr>
          <a:xfrm>
            <a:off x="731520" y="3383280"/>
            <a:ext cx="10972800" cy="914400"/>
          </a:xfrm>
          <a:prstGeom prst="rect">
            <a:avLst/>
          </a:prstGeom>
          <a:noFill/>
        </p:spPr>
        <p:txBody>
          <a:bodyPr wrap="square" lIns="0" rIns="0" tIns="0" bIns="0">
            <a:spAutoFit/>
          </a:bodyPr>
          <a:lstStyle/>
          <a:p>
            <a:pPr algn="l"/>
            <a:r>
              <a:rPr sz="2000" b="0" i="0">
                <a:solidFill>
                  <a:srgbClr val="555F6E"/>
                </a:solidFill>
                <a:latin typeface="Calibri"/>
              </a:rPr>
              <a:t>Diagnosing and fixing TTFT/TPOT for a chat application running OLMoE-1B-7B on vLLM</a:t>
            </a:r>
          </a:p>
        </p:txBody>
      </p:sp>
      <p:sp>
        <p:nvSpPr>
          <p:cNvPr id="5" name="Rectangle 4"/>
          <p:cNvSpPr/>
          <p:nvPr/>
        </p:nvSpPr>
        <p:spPr>
          <a:xfrm>
            <a:off x="731520" y="448056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754880"/>
            <a:ext cx="10972800" cy="365760"/>
          </a:xfrm>
          <a:prstGeom prst="rect">
            <a:avLst/>
          </a:prstGeom>
          <a:noFill/>
        </p:spPr>
        <p:txBody>
          <a:bodyPr wrap="square" lIns="0" rIns="0" tIns="0" bIns="0">
            <a:spAutoFit/>
          </a:bodyPr>
          <a:lstStyle/>
          <a:p>
            <a:pPr algn="l"/>
            <a:r>
              <a:rPr sz="1400" b="0" i="0">
                <a:solidFill>
                  <a:srgbClr val="555F6E"/>
                </a:solidFill>
                <a:latin typeface="Calibri"/>
              </a:rPr>
              <a:t>Audience: Technical Domain Expert + VP of Strategy</a:t>
            </a:r>
          </a:p>
        </p:txBody>
      </p:sp>
      <p:sp>
        <p:nvSpPr>
          <p:cNvPr id="7" name="TextBox 6"/>
          <p:cNvSpPr txBox="1"/>
          <p:nvPr/>
        </p:nvSpPr>
        <p:spPr>
          <a:xfrm>
            <a:off x="731520" y="5120640"/>
            <a:ext cx="10972800" cy="365760"/>
          </a:xfrm>
          <a:prstGeom prst="rect">
            <a:avLst/>
          </a:prstGeom>
          <a:noFill/>
        </p:spPr>
        <p:txBody>
          <a:bodyPr wrap="square" lIns="0" rIns="0" tIns="0" bIns="0">
            <a:spAutoFit/>
          </a:bodyPr>
          <a:lstStyle/>
          <a:p>
            <a:pPr algn="l"/>
            <a:r>
              <a:rPr sz="1400" b="0" i="0">
                <a:solidFill>
                  <a:srgbClr val="555F6E"/>
                </a:solidFill>
                <a:latin typeface="Calibri"/>
              </a:rPr>
              <a:t>30-minute slot · 15 min slides · 15 min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800"/>
              </a:spcAft>
            </a:pPr>
            <a:r>
              <a:rPr sz="1500">
                <a:solidFill>
                  <a:srgbClr val="1F2A37"/>
                </a:solidFill>
                <a:latin typeface="Calibri"/>
              </a:rPr>
              <a:t>•  Response times are missing our target under real load</a:t>
            </a:r>
          </a:p>
          <a:p>
            <a:pPr algn="l">
              <a:spcAft>
                <a:spcPts val="800"/>
              </a:spcAft>
            </a:pPr>
            <a:r>
              <a:rPr sz="1500">
                <a:solidFill>
                  <a:srgbClr val="1F2A37"/>
                </a:solidFill>
                <a:latin typeface="Calibri"/>
              </a:rPr>
              <a:t>•  User pain: long wait before the assistant says anything</a:t>
            </a:r>
          </a:p>
          <a:p>
            <a:pPr algn="l">
              <a:spcAft>
                <a:spcPts val="800"/>
              </a:spcAft>
            </a:pPr>
            <a:r>
              <a:rPr sz="1500">
                <a:solidFill>
                  <a:srgbClr val="1F2A37"/>
                </a:solidFill>
                <a:latin typeface="Calibri"/>
              </a:rPr>
              <a:t>•  Business pain: launch blocked; throwing more GPUs at it just costs money</a:t>
            </a:r>
          </a:p>
          <a:p>
            <a:pPr algn="l">
              <a:spcAft>
                <a:spcPts val="800"/>
              </a:spcAft>
            </a:pPr>
            <a:r>
              <a:rPr sz="1500">
                <a:solidFill>
                  <a:srgbClr val="1F2A37"/>
                </a:solidFill>
                <a:latin typeface="Calibri"/>
              </a:rPr>
              <a:t>•  Question: what actually fixes this — and what doesn't?</a:t>
            </a:r>
          </a:p>
        </p:txBody>
      </p:sp>
      <p:sp>
        <p:nvSpPr>
          <p:cNvPr id="8" name="TextBox 7"/>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800"/>
              </a:spcAft>
            </a:pPr>
            <a:r>
              <a:rPr sz="1500">
                <a:solidFill>
                  <a:srgbClr val="1F2A37"/>
                </a:solidFill>
                <a:latin typeface="Calibri"/>
              </a:rPr>
              <a:t>•  TTFT — time to first token (how long until anything appears)</a:t>
            </a:r>
          </a:p>
          <a:p>
            <a:pPr algn="l">
              <a:spcAft>
                <a:spcPts val="800"/>
              </a:spcAft>
            </a:pPr>
            <a:r>
              <a:rPr sz="1500">
                <a:solidFill>
                  <a:srgbClr val="1F2A37"/>
                </a:solidFill>
                <a:latin typeface="Calibri"/>
              </a:rPr>
              <a:t>•  TPOT — time per output token (how fast the rest stream in)</a:t>
            </a:r>
          </a:p>
          <a:p>
            <a:pPr algn="l">
              <a:spcAft>
                <a:spcPts val="800"/>
              </a:spcAft>
            </a:pPr>
            <a:r>
              <a:rPr sz="1500">
                <a:solidFill>
                  <a:srgbClr val="1F2A37"/>
                </a:solidFill>
                <a:latin typeface="Calibri"/>
              </a:rPr>
              <a:t>•  Total request time = TTFT + tokens × TPOT</a:t>
            </a:r>
          </a:p>
          <a:p>
            <a:pPr algn="l">
              <a:spcAft>
                <a:spcPts val="800"/>
              </a:spcAft>
            </a:pPr>
            <a:r>
              <a:rPr sz="1500">
                <a:solidFill>
                  <a:srgbClr val="1F2A37"/>
                </a:solidFill>
                <a:latin typeface="Calibri"/>
              </a:rPr>
              <a:t>•  I tested with realistic chat-app prompt sizes</a:t>
            </a:r>
          </a:p>
          <a:p>
            <a:pPr algn="l">
              <a:spcAft>
                <a:spcPts val="800"/>
              </a:spcAft>
            </a:pPr>
            <a:r>
              <a:rPr sz="1500">
                <a:solidFill>
                  <a:srgbClr val="1F2A37"/>
                </a:solidFill>
                <a:latin typeface="Calibri"/>
              </a:rPr>
              <a:t>•  Both numbers matter — neither alone tells the whole story</a:t>
            </a:r>
          </a:p>
        </p:txBody>
      </p:sp>
      <p:sp>
        <p:nvSpPr>
          <p:cNvPr id="9" name="TextBox 8"/>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get a clean, repeatable baseline first</a:t>
            </a:r>
          </a:p>
          <a:p>
            <a:pPr algn="l">
              <a:spcAft>
                <a:spcPts val="800"/>
              </a:spcAft>
            </a:pPr>
            <a:r>
              <a:rPr sz="2000">
                <a:solidFill>
                  <a:srgbClr val="1F2A37"/>
                </a:solidFill>
                <a:latin typeface="Calibri"/>
              </a:rPr>
              <a:t>•  2.  Look inside — see where time is actually being spent</a:t>
            </a:r>
          </a:p>
          <a:p>
            <a:pPr algn="l">
              <a:spcAft>
                <a:spcPts val="800"/>
              </a:spcAft>
            </a:pPr>
            <a:r>
              <a:rPr sz="2000">
                <a:solidFill>
                  <a:srgbClr val="1F2A37"/>
                </a:solidFill>
                <a:latin typeface="Calibri"/>
              </a:rPr>
              <a:t>•  3.  Try one change at a time — measure what each one saves</a:t>
            </a:r>
          </a:p>
          <a:p>
            <a:pPr algn="l">
              <a:spcAft>
                <a:spcPts val="800"/>
              </a:spcAft>
            </a:pPr>
            <a:r>
              <a:rPr sz="2000">
                <a:solidFill>
                  <a:srgbClr val="1F2A37"/>
                </a:solidFill>
                <a:latin typeface="Calibri"/>
              </a:rPr>
              <a:t>•  4.  Decide — rank what helped,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one Blackwell GPU, default settings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565</a:t>
                      </a:r>
                    </a:p>
                  </a:txBody>
                  <a:tcPr marL="60000" marR="60000" marT="40000" marB="40000" anchor="ctr">
                    <a:solidFill>
                      <a:srgbClr val="FFFFFF"/>
                    </a:solidFill>
                  </a:tcPr>
                </a:tc>
                <a:tc>
                  <a:txBody>
                    <a:bodyPr/>
                    <a:lstStyle/>
                    <a:p>
                      <a:r>
                        <a:rPr sz="1500" b="0">
                          <a:solidFill>
                            <a:srgbClr val="1F2A37"/>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603</a:t>
                      </a:r>
                    </a:p>
                  </a:txBody>
                  <a:tcPr marL="60000" marR="60000" marT="40000" marB="40000" anchor="ctr">
                    <a:solidFill>
                      <a:srgbClr val="FAFBFC"/>
                    </a:solidFill>
                  </a:tcPr>
                </a:tc>
                <a:tc>
                  <a:txBody>
                    <a:bodyPr/>
                    <a:lstStyle/>
                    <a:p>
                      <a:r>
                        <a:rPr sz="1500" b="0">
                          <a:solidFill>
                            <a:srgbClr val="1F2A37"/>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Run-to-run variation is under a millisecond — any improvement I measure from here is real, not random.</a:t>
            </a:r>
          </a:p>
        </p:txBody>
      </p:sp>
      <p:sp>
        <p:nvSpPr>
          <p:cNvPr id="7" name="TextBox 6"/>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800"/>
              </a:spcAft>
            </a:pPr>
            <a:r>
              <a:rPr sz="1500">
                <a:solidFill>
                  <a:srgbClr val="1F2A37"/>
                </a:solidFill>
                <a:latin typeface="Calibri"/>
              </a:rPr>
              <a:t>•  One step does ~80% of the work — and it's already heavily optimized in vLLM</a:t>
            </a:r>
          </a:p>
          <a:p>
            <a:pPr algn="l">
              <a:spcAft>
                <a:spcPts val="800"/>
              </a:spcAft>
            </a:pPr>
            <a:r>
              <a:rPr sz="1500">
                <a:solidFill>
                  <a:srgbClr val="1F2A37"/>
                </a:solidFill>
                <a:latin typeface="Calibri"/>
              </a:rPr>
              <a:t>•  The rest is small overhead and weight loading from memory</a:t>
            </a:r>
          </a:p>
          <a:p>
            <a:pPr algn="l">
              <a:spcAft>
                <a:spcPts val="800"/>
              </a:spcAft>
            </a:pPr>
            <a:r>
              <a:rPr sz="1500">
                <a:solidFill>
                  <a:srgbClr val="1F2A37"/>
                </a:solidFill>
                <a:latin typeface="Calibri"/>
              </a:rPr>
              <a:t>•  There's no obvious 'easy fix' hiding in the code — the levers are outside it</a:t>
            </a:r>
          </a:p>
          <a:p>
            <a:pPr algn="l">
              <a:spcAft>
                <a:spcPts val="800"/>
              </a:spcAft>
            </a:pPr>
            <a:r>
              <a:rPr sz="1500">
                <a:solidFill>
                  <a:srgbClr val="1F2A37"/>
                </a:solidFill>
                <a:latin typeface="Calibri"/>
              </a:rPr>
              <a:t>•  Next slide: the four levers I tested</a:t>
            </a:r>
          </a:p>
        </p:txBody>
      </p:sp>
      <p:sp>
        <p:nvSpPr>
          <p:cNvPr id="9" name="TextBox 8"/>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17% faster end-to-end, TPOT 17% faster</a:t>
                      </a:r>
                    </a:p>
                  </a:txBody>
                  <a:tcPr marL="60000" marR="60000" marT="40000" marB="40000" anchor="ctr">
                    <a:solidFill>
                      <a:srgbClr val="FFFFFF"/>
                    </a:solidFill>
                  </a:tcPr>
                </a:tc>
              </a:tr>
              <a:tr h="512064">
                <a:tc>
                  <a:txBody>
                    <a:bodyPr/>
                    <a:lstStyle/>
                    <a:p>
                      <a:r>
                        <a:rPr sz="1500" b="0">
                          <a:solidFill>
                            <a:srgbClr val="1F2A37"/>
                          </a:solidFill>
                          <a:latin typeface="Calibri"/>
                        </a:rPr>
                        <a:t>Reuse of repeated prompts</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40% faster on shared prompts</a:t>
                      </a:r>
                    </a:p>
                  </a:txBody>
                  <a:tcPr marL="60000" marR="60000" marT="40000" marB="40000" anchor="ctr">
                    <a:solidFill>
                      <a:srgbClr val="FAFBFC"/>
                    </a:solidFill>
                  </a:tcPr>
                </a:tc>
              </a:tr>
              <a:tr h="512064">
                <a:tc>
                  <a:txBody>
                    <a:bodyPr/>
                    <a:lstStyle/>
                    <a:p>
                      <a:r>
                        <a:rPr sz="1500" b="0">
                          <a:solidFill>
                            <a:srgbClr val="1F2A37"/>
                          </a:solidFill>
                          <a:latin typeface="Calibri"/>
                        </a:rPr>
                        <a:t>Serve more users at once</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up to 5676 tokens/sec across users</a:t>
                      </a:r>
                    </a:p>
                  </a:txBody>
                  <a:tcPr marL="60000" marR="60000" marT="40000" marB="40000" anchor="ctr">
                    <a:solidFill>
                      <a:srgbClr val="FFFFFF"/>
                    </a:solidFill>
                  </a:tcPr>
                </a:tc>
              </a:tr>
              <a:tr h="512064">
                <a:tc>
                  <a:txBody>
                    <a:bodyPr/>
                    <a:lstStyle/>
                    <a:p>
                      <a:r>
                        <a:rPr sz="1500" b="0">
                          <a:solidFill>
                            <a:srgbClr val="1F2A37"/>
                          </a:solidFill>
                          <a:latin typeface="Calibri"/>
                        </a:rPr>
                        <a:t>Use both GPUs for one request</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TPOT 14% faster; TTFT unchanged at single-user batch=1</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TTFT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tf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Reusing repeated prompts — bigger payoff on longer prompts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prefix_caching.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IMPACT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Serving more users at once cuts cost per request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SCALE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If traffic grows 10× tomorrow</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Turn on FP8 quantization and prompt reuse — today, near-zero risk</a:t>
            </a:r>
          </a:p>
          <a:p>
            <a:pPr algn="l">
              <a:spcAft>
                <a:spcPts val="800"/>
              </a:spcAft>
            </a:pPr>
            <a:r>
              <a:rPr sz="2000">
                <a:solidFill>
                  <a:srgbClr val="1F2A37"/>
                </a:solidFill>
                <a:latin typeface="Calibri"/>
              </a:rPr>
              <a:t>•  2.  Tune how many users to serve at once, based on the latency target</a:t>
            </a:r>
          </a:p>
          <a:p>
            <a:pPr algn="l">
              <a:spcAft>
                <a:spcPts val="800"/>
              </a:spcAft>
            </a:pPr>
            <a:r>
              <a:rPr sz="2000">
                <a:solidFill>
                  <a:srgbClr val="1F2A37"/>
                </a:solidFill>
                <a:latin typeface="Calibri"/>
              </a:rPr>
              <a:t>•  3.  Use both GPUs together — cuts TPOT ~14% and doubles memory for bigger batches</a:t>
            </a:r>
          </a:p>
          <a:p>
            <a:pPr algn="l">
              <a:spcAft>
                <a:spcPts val="800"/>
              </a:spcAft>
            </a:pPr>
            <a:r>
              <a:rPr sz="2000">
                <a:solidFill>
                  <a:srgbClr val="1F2A37"/>
                </a:solidFill>
                <a:latin typeface="Calibri"/>
              </a:rPr>
              <a:t>•  4.  Add more model copies behind the load balancer as traffic grows</a:t>
            </a:r>
          </a:p>
          <a:p>
            <a:pPr algn="l">
              <a:spcAft>
                <a:spcPts val="800"/>
              </a:spcAft>
            </a:pPr>
            <a:r>
              <a:rPr sz="2000">
                <a:solidFill>
                  <a:srgbClr val="1F2A37"/>
                </a:solidFill>
                <a:latin typeface="Calibri"/>
              </a:rPr>
              <a:t>•  5.  Add new GPU machines — last resort, biggest cost step</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Turn on FP8 quantization and prompt reuse this week — confirm math accuracy on our own evaluations first</a:t>
            </a:r>
          </a:p>
          <a:p>
            <a:pPr algn="l">
              <a:spcAft>
                <a:spcPts val="800"/>
              </a:spcAft>
            </a:pPr>
            <a:r>
              <a:rPr sz="2000">
                <a:solidFill>
                  <a:srgbClr val="1F2A37"/>
                </a:solidFill>
                <a:latin typeface="Calibri"/>
              </a:rPr>
              <a:t>•  Tune how many users to serve at once, based on the latency target</a:t>
            </a:r>
          </a:p>
          <a:p>
            <a:pPr algn="l">
              <a:spcAft>
                <a:spcPts val="800"/>
              </a:spcAft>
            </a:pPr>
            <a:r>
              <a:rPr sz="2000">
                <a:solidFill>
                  <a:srgbClr val="1F2A37"/>
                </a:solidFill>
                <a:latin typeface="Calibri"/>
              </a:rPr>
              <a:t>•  Use both GPUs together when TPOT or memory headroom is the bottleneck — not for TTFT</a:t>
            </a:r>
          </a:p>
          <a:p>
            <a:pPr algn="l">
              <a:spcAft>
                <a:spcPts val="800"/>
              </a:spcAft>
            </a:pPr>
            <a:r>
              <a:rPr sz="2000">
                <a:solidFill>
                  <a:srgbClr val="1F2A37"/>
                </a:solidFill>
                <a:latin typeface="Calibri"/>
              </a:rPr>
              <a:t>•  Re-measure whenever the model, the serving software, or the hardware changes</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7315200" cy="1645920"/>
          </a:xfrm>
          <a:prstGeom prst="rect">
            <a:avLst/>
          </a:prstGeom>
          <a:noFill/>
        </p:spPr>
        <p:txBody>
          <a:bodyPr wrap="square" lIns="0" rIns="0" tIns="0" bIns="0">
            <a:spAutoFit/>
          </a:bodyPr>
          <a:lstStyle/>
          <a:p>
            <a:pPr algn="l"/>
            <a:r>
              <a:rPr sz="9600" b="1" i="0">
                <a:solidFill>
                  <a:srgbClr val="1F2A37"/>
                </a:solidFill>
                <a:latin typeface="Calibri"/>
              </a:rPr>
              <a:t>Q&amp;A</a:t>
            </a:r>
          </a:p>
        </p:txBody>
      </p:sp>
      <p:sp>
        <p:nvSpPr>
          <p:cNvPr id="3" name="Rectangle 2"/>
          <p:cNvSpPr/>
          <p:nvPr/>
        </p:nvSpPr>
        <p:spPr>
          <a:xfrm>
            <a:off x="731520" y="365760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931920"/>
            <a:ext cx="7315200" cy="457200"/>
          </a:xfrm>
          <a:prstGeom prst="rect">
            <a:avLst/>
          </a:prstGeom>
          <a:noFill/>
        </p:spPr>
        <p:txBody>
          <a:bodyPr wrap="square" lIns="0" rIns="0" tIns="0" bIns="0">
            <a:spAutoFit/>
          </a:bodyPr>
          <a:lstStyle/>
          <a:p>
            <a:pPr algn="l"/>
            <a:r>
              <a:rPr sz="2000" b="0" i="0">
                <a:solidFill>
                  <a:srgbClr val="555F6E"/>
                </a:solidFill>
                <a:latin typeface="Calibri"/>
              </a:rPr>
              <a:t>15 minutes — fire away.</a:t>
            </a:r>
          </a:p>
        </p:txBody>
      </p:sp>
      <p:sp>
        <p:nvSpPr>
          <p:cNvPr id="5" name="TextBox 4"/>
          <p:cNvSpPr txBox="1"/>
          <p:nvPr/>
        </p:nvSpPr>
        <p:spPr>
          <a:xfrm>
            <a:off x="8778240" y="1828800"/>
            <a:ext cx="2743200" cy="274320"/>
          </a:xfrm>
          <a:prstGeom prst="rect">
            <a:avLst/>
          </a:prstGeom>
          <a:noFill/>
        </p:spPr>
        <p:txBody>
          <a:bodyPr wrap="square" lIns="0" rIns="0" tIns="0" bIns="0">
            <a:spAutoFit/>
          </a:bodyPr>
          <a:lstStyle/>
          <a:p>
            <a:pPr algn="l"/>
            <a:r>
              <a:rPr sz="1100" b="1" i="0">
                <a:solidFill>
                  <a:srgbClr val="2E66C2"/>
                </a:solidFill>
                <a:latin typeface="Calibri"/>
              </a:rPr>
              <a:t>REPO</a:t>
            </a:r>
          </a:p>
        </p:txBody>
      </p:sp>
      <p:pic>
        <p:nvPicPr>
          <p:cNvPr id="6" name="Picture 5" descr="repo_qr.png"/>
          <p:cNvPicPr>
            <a:picLocks noChangeAspect="1"/>
          </p:cNvPicPr>
          <p:nvPr/>
        </p:nvPicPr>
        <p:blipFill>
          <a:blip r:embed="rId2"/>
          <a:stretch>
            <a:fillRect/>
          </a:stretch>
        </p:blipFill>
        <p:spPr>
          <a:xfrm>
            <a:off x="8778240" y="2194560"/>
            <a:ext cx="2743200" cy="2743200"/>
          </a:xfrm>
          <a:prstGeom prst="rect">
            <a:avLst/>
          </a:prstGeom>
        </p:spPr>
      </p:pic>
      <p:sp>
        <p:nvSpPr>
          <p:cNvPr id="7" name="TextBox 6"/>
          <p:cNvSpPr txBox="1"/>
          <p:nvPr/>
        </p:nvSpPr>
        <p:spPr>
          <a:xfrm>
            <a:off x="8229600" y="5074920"/>
            <a:ext cx="3840480" cy="365760"/>
          </a:xfrm>
          <a:prstGeom prst="rect">
            <a:avLst/>
          </a:prstGeom>
          <a:noFill/>
        </p:spPr>
        <p:txBody>
          <a:bodyPr wrap="square" lIns="0" rIns="0" tIns="0" bIns="0">
            <a:spAutoFit/>
          </a:bodyPr>
          <a:lstStyle/>
          <a:p>
            <a:pPr algn="ctr"/>
            <a:r>
              <a:rPr sz="1200" b="0" i="0">
                <a:solidFill>
                  <a:srgbClr val="555F6E"/>
                </a:solidFill>
                <a:latin typeface="Calibri"/>
              </a:rPr>
              <a:t>github.com/harishvs/olmoe-kernel</a:t>
            </a:r>
          </a:p>
        </p:txBody>
      </p:sp>
      <p:sp>
        <p:nvSpPr>
          <p:cNvPr id="8" name="TextBox 7"/>
          <p:cNvSpPr txBox="1"/>
          <p:nvPr/>
        </p:nvSpPr>
        <p:spPr>
          <a:xfrm>
            <a:off x="8229600" y="5440680"/>
            <a:ext cx="3840480" cy="365760"/>
          </a:xfrm>
          <a:prstGeom prst="rect">
            <a:avLst/>
          </a:prstGeom>
          <a:noFill/>
        </p:spPr>
        <p:txBody>
          <a:bodyPr wrap="square" lIns="0" rIns="0" tIns="0" bIns="0">
            <a:spAutoFit/>
          </a:bodyPr>
          <a:lstStyle/>
          <a:p>
            <a:pPr algn="ctr"/>
            <a:r>
              <a:rPr sz="1000" b="0" i="1">
                <a:solidFill>
                  <a:srgbClr val="555F6E"/>
                </a:solidFill>
                <a:latin typeface="Calibri"/>
              </a:rPr>
              <a:t>scan to clone the code, results, and this deck</a:t>
            </a:r>
          </a:p>
        </p:txBody>
      </p:sp>
      <p:sp>
        <p:nvSpPr>
          <p:cNvPr id="9" name="TextBox 8"/>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7315200" cy="274320"/>
          </a:xfrm>
          <a:prstGeom prst="rect">
            <a:avLst/>
          </a:prstGeom>
          <a:noFill/>
        </p:spPr>
        <p:txBody>
          <a:bodyPr wrap="square" lIns="0" rIns="0" tIns="0" bIns="0">
            <a:spAutoFit/>
          </a:bodyPr>
          <a:lstStyle/>
          <a:p>
            <a:pPr algn="l"/>
            <a:r>
              <a:rPr sz="1000" b="0" i="0">
                <a:solidFill>
                  <a:srgbClr val="555F6E"/>
                </a:solidFill>
                <a:latin typeface="Calibri"/>
              </a:rPr>
              <a:t>OLMoE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