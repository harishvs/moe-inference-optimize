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audience in the actual product situation: a chat application running on EKS that's missing its inference latency latency target under load. The model is OLMoE-1B-7B-Instruct served by vLLM. We're going to diagnose it the same way we'd diagnose a production incident — measure, profile, list the levers, attribute the deltas, and ship a ranked plan with measured tradeoffs.</a:t>
            </a:r>
          </a:p>
          <a:p/>
          <a:p>
            <a:r>
              <a:t>Two audiences: the technical expert who'll probe kernel-level tradeoffs, and the VP who needs to know what this means for cost, time-to-market, and the 10× scenario. Detail lives in the appendix and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so both panelists see themselves in it. The technical expert hears 'inference latency, MoE model, vLLM, EKS' and thinks kernels and routing. The VP hears 'missing the latency target, blocks launch, over-provisioning is a tax' and thinks cost and time-to-market.</a:t>
            </a:r>
          </a:p>
          <a:p/>
          <a:p>
            <a:r>
              <a:t>Don't dwell — the rest of the talk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measuring, the audience needs the same vocabulary we have. TTFT and TPOT are the two metrics any inference latency target is built on. TTFT is what the user feels right after they hit enter. TPOT is what they feel as the response streams in.</a:t>
            </a:r>
          </a:p>
          <a:p/>
          <a:p>
            <a:r>
              <a:t>The grid we measure on is deliberately chat-app-shaped: not synthetic, not maximum-context, but realistic for a customer-facing assistant with a system prompt and tool descriptions in the few-hundred-token range.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meta-point that holds the whole talk together. Most performance work goes wrong because someone skips one of these steps. They jump to 'I'll write a kernel' before profiling, or they 'optimize' something and forget to measure variance, or they ship a 5× win that's actually noise from a different prompt.</a:t>
            </a:r>
          </a:p>
          <a:p/>
          <a:p>
            <a:r>
              <a:t>Every claim in the rest of this talk follows this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the audience should notice:</a:t>
            </a:r>
          </a:p>
          <a:p/>
          <a:p>
            <a:r>
              <a:t>First: variance is extremely tight across 30 iterations. p90 sits less than a millisecond from the mean. This is the reward for fixing the seed and running enough iterations — any speedup we measure later is real, not an artifact of changing prompts or warm caches.</a:t>
            </a:r>
          </a:p>
          <a:p/>
          <a:p>
            <a:r>
              <a:t>Second: TTFT grows sub-linearly with input length, not quadratically. The N² attention term is small at this scale; FFN dominates.</a:t>
            </a:r>
          </a:p>
          <a:p/>
          <a:p>
            <a:r>
              <a:t>Third: TPOT is nearly flat across input length. Decode doesn't care how long the prompt was. Prefill is compute-bound; decode is bandwidth-bound. Two different problems.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across the bar. fused_moe_kernel — the grouped-GEMM kernel that runs the MoE feed-forward — owns 80% of prefill. It's already tuned for tensor cores in vLLM. Attention projections are next at 9%. Attention math itself is small; at L=1024 the FFN term dominates the quadratic attention term by roughly 9×.</a:t>
            </a:r>
          </a:p>
          <a:p/>
          <a:p>
            <a:r>
              <a:t>The point: the profile tells the engineering budget where to go. It pointed at FP8 (attacks fused_moe via lower bytes), prefix caching (skips prefill entirely), batching (amortizes weight loads), and TP=2 (splits the work across both GPUs). Those are the levers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real levers, one negative result. Each row is a script in the repo, a JSON file in results/, and (for the big ones) its own slide coming up.</a:t>
            </a:r>
          </a:p>
          <a:p/>
          <a:p>
            <a:r>
              <a:t>For the VP: this is what 'data-driven' means in practice. We did not pick the optimization that sounded cool; we picked the ones the profile told us would actually move the number we care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chart, three of the four levers (bf16 baseline, FP8, TP=2). Continuous batching is on slide 12 on its own axis (batch size, not prompt length), because it's not a per-request latency lever — it's a throughput lever that makes per-request latency worse.</a:t>
            </a:r>
          </a:p>
          <a:p/>
          <a:p>
            <a:r>
              <a:t>Walk the audience across the three lines on this chart:</a:t>
            </a:r>
          </a:p>
          <a:p/>
          <a:p>
            <a:r>
              <a:t>Blue line — bf16 baseline. The shape of the problem.</a:t>
            </a:r>
          </a:p>
          <a:p/>
          <a:p>
            <a:r>
              <a:t>Green line — FP8 quantization. Consistently below baseline by 15–35%. It's a flag flip on vLLM; we'll cover the accuracy tradeoff on the next slide.</a:t>
            </a:r>
          </a:p>
          <a:p/>
          <a:p>
            <a:r>
              <a:t>Red line — TP=2 across both Blackwell GPUs. Slightly better at L=128, sits on top of the baseline at higher L. The reason is subtle: at batch=1 the per-step work is small, so the cross-GPU all-reduce dominates whatever parallelism we gain. TP=2 is a throughput lever more than a TTFT lever.</a:t>
            </a:r>
          </a:p>
          <a:p/>
          <a:p>
            <a:r>
              <a:t>The takeaway: for this chat workload, FP8 is the lever that moves TTFT. TP=2 helps when the GPU has more work per step — which is exactly the regime we'll hit when we start batching.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TPOT counterpart to slide 8. Same three lines, different metric — three of the four levers (bf16 baseline, FP8, TP=2). Continuous batching is on slide 12 on its own axis (batch size, not prompt length), because it's not a per-request latency lever — it's a throughput lever that makes per-request TPOT worse.</a:t>
            </a:r>
          </a:p>
          <a:p/>
          <a:p>
            <a:r>
              <a:t>Blue line — bf16 baseline. Roughly flat across input length: 2.34 ms/token at L=128 up to 2.90 ms/token at L=1500. Decode TPOT barely depends on prompt length because each decode step does the same weight-load work regardless of how long the cached context is.</a:t>
            </a:r>
          </a:p>
          <a:p/>
          <a:p>
            <a:r>
              <a:t>Green line — FP8. Consistent ~15–17% TPOT improvement across all prompt sizes. FP8 attacks the bandwidth-bound weight loads that dominate decode, so the savings are stable.</a:t>
            </a:r>
          </a:p>
          <a:p/>
          <a:p>
            <a:r>
              <a:t>Red line — TP=2. ~12–14% TPOT gain across the grid. Splitting the model across both GPUs halves the per-GPU weight-load bandwidth demand per token, so the bandwidth-bound decode loop runs faster.</a:t>
            </a:r>
          </a:p>
          <a:p/>
          <a:p>
            <a:r>
              <a:t>The takeaway: for TPOT — unlike TTFT — both FP8 and TP=2 deliver real, consistent wins. They're additive in principle, though I didn't measure the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chat app uses a long system prompt with tool descriptions and few-shot examples — that's the right side of this chart, where the savings are largest.</a:t>
            </a:r>
          </a:p>
          <a:p/>
          <a:p>
            <a:r>
              <a:t>Left bars: short shared prompt, 13% faster first word. Middle: medium prompt, 14%. Right: long shared prompt, 40% faster.</a:t>
            </a:r>
          </a:p>
          <a:p/>
          <a:p>
            <a:r>
              <a:t>The pattern: reuse helps most when the prompt is most expensive to recompute — which is exactly when we want to skip it.</a:t>
            </a:r>
          </a:p>
          <a:p/>
          <a:p>
            <a:r>
              <a:t>Caveat for a different workload: if every request has a totally unique prompt (e.g. RAG with a different retrieved document each time), this lever does nothing.</a:t>
            </a:r>
          </a:p>
          <a:p/>
          <a:p>
            <a:r>
              <a:t>Also worth flagging if asked: lower-precision math (FP8) has its own trade-off. Three out of four standard quality benchmarks are unchanged within noise. The fourth, grade-school math, drops about 2.8 percentage points. We'd test on the customer's own evaluations before flipping that switch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framing of the fourth lever. The bars rise — total throughput goes up nearly 14× from B=1 to B=128. The line also rises — per-request TPOT goes up 4× by B=32 and 4.6× by B=128.</a:t>
            </a:r>
          </a:p>
          <a:p/>
          <a:p>
            <a:r>
              <a:t>So under a per-request latency frame, batching is not a win — it's a deliberate trade. You spend per-request latency to buy total throughput per pod.</a:t>
            </a:r>
          </a:p>
          <a:p/>
          <a:p>
            <a:r>
              <a:t>When that trade is worth it: the workload is throughput-sensitive rather than latency-sensitive. Batch document processing, async summarization, anything where total tokens served per dollar matters more than how fast any single response streams.</a:t>
            </a:r>
          </a:p>
          <a:p/>
          <a:p>
            <a:r>
              <a:t>When it isn't: interactive chat. The whole point of chat is responsiveness. Don't batch past the point where TPOT crosses the user's tolerance — for a 30 ms target, B=1 is fine, B=32 is fine (9.6 ms), but you're spending real per-request latency for the throughput.</a:t>
            </a:r>
          </a:p>
          <a:p/>
          <a:p>
            <a:r>
              <a:t>If the panel asks: yes, batching helps cost per token. The chart is here so the choice is informed, not so it's automatic.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of three verdict charts. TTFT p90 vs prompt size, three single-GPU configurations against the 15 ms threshold. Shaded region is FAIL.</a:t>
            </a:r>
          </a:p>
          <a:p/>
          <a:p>
            <a:r>
              <a:t>Baseline crosses the line at L=1024 (19.6 ms). FP8 holds through L=1500 with margin (16.7, 17.6 ms — borderline at the longest prompts). TP=2 tracks baseline at chat-app prompt sizes — it doesn't help TTFT here.</a:t>
            </a:r>
          </a:p>
          <a:p/>
          <a:p>
            <a:r>
              <a:t>Prefix caching annotation is the safety net: 40% TTFT cut on shared system prompts (slide 11). Where FP8 is borderline at L=1500, caching closes the gap because the chat app's prompts share a long system-prompt prefix.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of three verdict charts. TPOT mean vs prompt size, threshold 2.5 ms.</a:t>
            </a:r>
          </a:p>
          <a:p/>
          <a:p>
            <a:r>
              <a:t>Baseline starts inside SLA at L=128 (2.34 ms) but crosses out at L=512 onward (2.47–2.90 ms). FP8 holds through L=1500. TP=2 holds through L=1024, borderline at L=1500 (2.51 ms).</a:t>
            </a:r>
          </a:p>
          <a:p/>
          <a:p>
            <a:r>
              <a:t>Prefix caching note: caching only skips prefill, so it doesn't affect TPOT. The TPOT story is FP8 (and to a lesser extent TP=2) carrying the load.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of three verdict charts — the headline. End-to-end latency for a 200-token response, threshold 500 ms.</a:t>
            </a:r>
          </a:p>
          <a:p/>
          <a:p>
            <a:r>
              <a:t>Baseline crosses out at L=512 (505 ms — 5 ms over) and misses by ~65 and ~103 ms at L=1024 and L=1500. FP8 holds through L=1024 with 30 ms margin, borderline at L=1500 (501 ms — 1 ms over). TP=2 holds through L=1024, fails at L=1500.</a:t>
            </a:r>
          </a:p>
          <a:p/>
          <a:p>
            <a:r>
              <a:t>Prefix caching note: shared-prompt traffic gets up to 21 ms TTFT savings on top of any single-GPU configuration, which cleanly closes the L=1500 gap for FP8.</a:t>
            </a:r>
          </a:p>
          <a:p/>
          <a:p>
            <a:r>
              <a:t>The headline: FP8 + prefix caching together rescue the SLA across the chat-app prompt range.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stories for the VP. Per-request speed on the left, cost per request on the right.</a:t>
            </a:r>
          </a:p>
          <a:p/>
          <a:p>
            <a:r>
              <a:t>Speed: FP8 cuts end-to-end latency 17% across the prompt grid — measured. Prefix caching cuts up to 40% off TTFT on long shared prompts — measured. Combined, they roughly halve the wait users feel. The combination wasn't directly measured together; the estimate assumes the two attack independent bottlenecks, which they do (FP8 attacks weight bandwidth, prefix caching skips prefill compute entirely).</a:t>
            </a:r>
          </a:p>
          <a:p/>
          <a:p>
            <a:r>
              <a:t>Cost: 17% less GPU-time per request from FP8 alone means the same GPU pod serves 17% more requests per hour at the same per-request latency budget — directly translatable to lower cost per request on the EKS GPU node pool.</a:t>
            </a:r>
          </a:p>
          <a:p/>
          <a:p>
            <a:r>
              <a:t>Both are config changes. No model retraining, no new dependencies, no ops change. Break-even on day one. The only ongoing discipline is to re-baseline whenever the model, vLLM version, or hardware moves — the harness is set up to make that cheap.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lever has a price; this is the slide where I name them so neither panelist has to dig them out of me. Walk the table top-to-bottom.</a:t>
            </a:r>
          </a:p>
          <a:p/>
          <a:p>
            <a:r>
              <a:t>FP8: the upside is real, the risk is GSM8K-style precision-sensitive tasks taking a measurable hit. The mitigation is to run the eval suite on the customer's actual workload before flipping the flag in production, and to keep bf16 as a fallback if anything regresses.</a:t>
            </a:r>
          </a:p>
          <a:p/>
          <a:p>
            <a:r>
              <a:t>Prefix caching: only helps when prompts share prefixes. Sizing the KV cache and monitoring hit rate keeps it honest in production.</a:t>
            </a:r>
          </a:p>
          <a:p/>
          <a:p>
            <a:r>
              <a:t>Tensor parallel: I keep flagging this — at single-user batch=1 it doesn't move TTFT. The reason it's still worth it is TPOT and the doubled memory headroom for bigger batches. If someone uses it as a TTFT lever they'll be disappointed.</a:t>
            </a:r>
          </a:p>
          <a:p/>
          <a:p>
            <a:r>
              <a:t>Concurrency: throughput goes up, per-user latency goes up. The mitigation is to set max_num_seqs from the p90 TTFT we promised, not from the throughput we want.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in priority order. A staff engineer reading this should agree with each one.</a:t>
            </a:r>
          </a:p>
          <a:p/>
          <a:p>
            <a:r>
              <a:t>Last bullet matters: every claim here is tied to *this* model, *this* engine version, *this* hardware. Re-baseline whenever any of those move. The repo is set up to make that cheap.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a:t>
            </a:r>
          </a:p>
          <a:p/>
          <a:p>
            <a:r>
              <a:t>Q (Tech): Does FP8 still win on Blackwell when bandwidth is much higher? A: Yes — measured. The win is smaller than on L4 because Blackwell's HBM3e and tensor cores already eat much of the bandwidth bottleneck FP8 attacks.</a:t>
            </a:r>
          </a:p>
          <a:p/>
          <a:p>
            <a:r>
              <a:t>Q (Tech): What about FP4? A: Blackwell supports it; vLLM/OLMoE compatibility is the limiter. On the roadmap; not measured here.</a:t>
            </a:r>
          </a:p>
          <a:p/>
          <a:p>
            <a:r>
              <a:t>Q (Tech): Does FP8 affect MoE routing — which experts fire? A: vLLM's MoE FP8 quantization keeps the router (gating linear) in higher precision by design; only the expert FFN weights are quantized. So expert selection at any given token is identical between bf16 and FP8 — only the math each selected expert does changes precision. This is consistent with the eval results: broad routing instability would have hit MMLU/HellaSwag/ARC, not just GSM8K. GSM8K's bigger drop is consistent with low-precision arithmetic compounding errors in chain-of-thought math, not with a routing change. Caveat: I haven't directly compared expert-fire patterns trace-by-trace between bf16 and FP8 — the claim is from reading vLLM's quantization code path plus the eval shape.</a:t>
            </a:r>
          </a:p>
          <a:p/>
          <a:p>
            <a:r>
              <a:t>Q (Tech): Tensor parallel vs expert parallel for MoE? A: Out of scope for this talk. EP is the obvious next experiment — expert parallelism specifically targets the MoE structure.</a:t>
            </a:r>
          </a:p>
          <a:p/>
          <a:p>
            <a:r>
              <a:t>Q (VP): What's the dollar number on $/M tokens? A: Depends on the instance — roughly the throughput ratio at the batching knee, applied to the EKS GPU node pool's cost. Concrete dollar estimate available in a follow-up.</a:t>
            </a:r>
          </a:p>
          <a:p/>
          <a:p>
            <a:r>
              <a:t>Q (VP): What's the time horizon? A: FP8 + prefix caching this week. TP=2 next sprint. HPA tuning is ongoing.</a:t>
            </a:r>
          </a:p>
          <a:p/>
          <a:p>
            <a:r>
              <a:t>Q (VP): What if the model changes? A: The harness is engine- and model-agnostic. Re-baseline runs in ~30 minutes.</a:t>
            </a:r>
          </a:p>
          <a:p/>
          <a:p>
            <a:r>
              <a:t>Roadmap if asked 'what would another sprint buy us?': expert-parallel sharding (cross-GPU MoE), FP4 once vLLM/OLMoE wiring lands, speculative decoding with a small draft model for chat workloads, tuning to the actual customer prompt distribution, and continuous-batching policy tuning under bursty real traffic.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920240"/>
            <a:ext cx="10972800" cy="457200"/>
          </a:xfrm>
          <a:prstGeom prst="rect">
            <a:avLst/>
          </a:prstGeom>
          <a:noFill/>
        </p:spPr>
        <p:txBody>
          <a:bodyPr wrap="square" lIns="0" rIns="0" tIns="0" bIns="0">
            <a:spAutoFit/>
          </a:bodyPr>
          <a:lstStyle/>
          <a:p>
            <a:pPr algn="l"/>
            <a:r>
              <a:rPr sz="1400" b="1" i="0">
                <a:solidFill>
                  <a:srgbClr val="2E66C2"/>
                </a:solidFill>
                <a:latin typeface="Calibri"/>
              </a:rPr>
              <a:t>AI Infrastructure</a:t>
            </a:r>
          </a:p>
        </p:txBody>
      </p:sp>
      <p:sp>
        <p:nvSpPr>
          <p:cNvPr id="3" name="TextBox 2"/>
          <p:cNvSpPr txBox="1"/>
          <p:nvPr/>
        </p:nvSpPr>
        <p:spPr>
          <a:xfrm>
            <a:off x="731520" y="2286000"/>
            <a:ext cx="10972800" cy="1005840"/>
          </a:xfrm>
          <a:prstGeom prst="rect">
            <a:avLst/>
          </a:prstGeom>
          <a:noFill/>
        </p:spPr>
        <p:txBody>
          <a:bodyPr wrap="square" lIns="0" rIns="0" tIns="0" bIns="0">
            <a:spAutoFit/>
          </a:bodyPr>
          <a:lstStyle/>
          <a:p>
            <a:pPr algn="l"/>
            <a:r>
              <a:rPr sz="4400" b="1" i="0">
                <a:solidFill>
                  <a:srgbClr val="1F2A37"/>
                </a:solidFill>
                <a:latin typeface="Calibri"/>
              </a:rPr>
              <a:t>Inference latency on EKS</a:t>
            </a:r>
          </a:p>
        </p:txBody>
      </p:sp>
      <p:sp>
        <p:nvSpPr>
          <p:cNvPr id="4" name="TextBox 3"/>
          <p:cNvSpPr txBox="1"/>
          <p:nvPr/>
        </p:nvSpPr>
        <p:spPr>
          <a:xfrm>
            <a:off x="731520" y="3383280"/>
            <a:ext cx="10972800" cy="914400"/>
          </a:xfrm>
          <a:prstGeom prst="rect">
            <a:avLst/>
          </a:prstGeom>
          <a:noFill/>
        </p:spPr>
        <p:txBody>
          <a:bodyPr wrap="square" lIns="0" rIns="0" tIns="0" bIns="0">
            <a:spAutoFit/>
          </a:bodyPr>
          <a:lstStyle/>
          <a:p>
            <a:pPr algn="l"/>
            <a:r>
              <a:rPr sz="2000" b="0" i="0">
                <a:solidFill>
                  <a:srgbClr val="555F6E"/>
                </a:solidFill>
                <a:latin typeface="Calibri"/>
              </a:rPr>
              <a:t>Diagnosing and fixing TTFT/TPOT for a chat application running OLMoE-1B-7B on vLLM</a:t>
            </a:r>
          </a:p>
        </p:txBody>
      </p:sp>
      <p:sp>
        <p:nvSpPr>
          <p:cNvPr id="5" name="Rectangle 4"/>
          <p:cNvSpPr/>
          <p:nvPr/>
        </p:nvSpPr>
        <p:spPr>
          <a:xfrm>
            <a:off x="731520" y="448056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754880"/>
            <a:ext cx="10972800" cy="365760"/>
          </a:xfrm>
          <a:prstGeom prst="rect">
            <a:avLst/>
          </a:prstGeom>
          <a:noFill/>
        </p:spPr>
        <p:txBody>
          <a:bodyPr wrap="square" lIns="0" rIns="0" tIns="0" bIns="0">
            <a:spAutoFit/>
          </a:bodyPr>
          <a:lstStyle/>
          <a:p>
            <a:pPr algn="l"/>
            <a:r>
              <a:rPr sz="1400" b="0" i="0">
                <a:solidFill>
                  <a:srgbClr val="555F6E"/>
                </a:solidFill>
                <a:latin typeface="Calibri"/>
              </a:rPr>
              <a:t>Audience: Technical Domain Expert + VP of Strategy</a:t>
            </a:r>
          </a:p>
        </p:txBody>
      </p:sp>
      <p:sp>
        <p:nvSpPr>
          <p:cNvPr id="7" name="TextBox 6"/>
          <p:cNvSpPr txBox="1"/>
          <p:nvPr/>
        </p:nvSpPr>
        <p:spPr>
          <a:xfrm>
            <a:off x="731520" y="5120640"/>
            <a:ext cx="10972800" cy="365760"/>
          </a:xfrm>
          <a:prstGeom prst="rect">
            <a:avLst/>
          </a:prstGeom>
          <a:noFill/>
        </p:spPr>
        <p:txBody>
          <a:bodyPr wrap="square" lIns="0" rIns="0" tIns="0" bIns="0">
            <a:spAutoFit/>
          </a:bodyPr>
          <a:lstStyle/>
          <a:p>
            <a:pPr algn="l"/>
            <a:r>
              <a:rPr sz="1400" b="0" i="0">
                <a:solidFill>
                  <a:srgbClr val="555F6E"/>
                </a:solidFill>
                <a:latin typeface="Calibri"/>
              </a:rPr>
              <a:t>30-minute slot · 15 min slides · 15 min Q&amp;A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155680" cy="640080"/>
          </a:xfrm>
          <a:prstGeom prst="rect">
            <a:avLst/>
          </a:prstGeom>
          <a:noFill/>
        </p:spPr>
        <p:txBody>
          <a:bodyPr wrap="square" lIns="0" rIns="0" tIns="0" bIns="0">
            <a:spAutoFit/>
          </a:bodyPr>
          <a:lstStyle/>
          <a:p>
            <a:pPr algn="l"/>
            <a:r>
              <a:rPr sz="3000" b="1" i="0">
                <a:solidFill>
                  <a:srgbClr val="1F2A37"/>
                </a:solidFill>
                <a:latin typeface="Calibri"/>
              </a:rPr>
              <a:t>The problem in one slide</a:t>
            </a:r>
          </a:p>
        </p:txBody>
      </p:sp>
      <p:sp>
        <p:nvSpPr>
          <p:cNvPr id="3" name="Rectangle 2"/>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DEPLOYMENT</a:t>
            </a:r>
          </a:p>
        </p:txBody>
      </p:sp>
      <p:pic>
        <p:nvPicPr>
          <p:cNvPr id="5" name="Picture 4" descr="diagram_eks_topology.png"/>
          <p:cNvPicPr>
            <a:picLocks noChangeAspect="1"/>
          </p:cNvPicPr>
          <p:nvPr/>
        </p:nvPicPr>
        <p:blipFill>
          <a:blip r:embed="rId2"/>
          <a:stretch>
            <a:fillRect/>
          </a:stretch>
        </p:blipFill>
        <p:spPr>
          <a:xfrm>
            <a:off x="457200" y="2011680"/>
            <a:ext cx="6766560" cy="2970042"/>
          </a:xfrm>
          <a:prstGeom prst="rect">
            <a:avLst/>
          </a:prstGeom>
        </p:spPr>
      </p:pic>
      <p:sp>
        <p:nvSpPr>
          <p:cNvPr id="6" name="TextBox 5"/>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WHAT'S BROKEN</a:t>
            </a:r>
          </a:p>
        </p:txBody>
      </p:sp>
      <p:sp>
        <p:nvSpPr>
          <p:cNvPr id="7" name="TextBox 6"/>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300">
                <a:solidFill>
                  <a:srgbClr val="1F2A37"/>
                </a:solidFill>
                <a:latin typeface="Calibri"/>
              </a:rPr>
              <a:t>•  Baseline misses the per-request SLA from prompts ≥ 512 tokens — exactly the chat-app range</a:t>
            </a:r>
          </a:p>
          <a:p>
            <a:pPr algn="l">
              <a:spcAft>
                <a:spcPts val="600"/>
              </a:spcAft>
            </a:pPr>
            <a:r>
              <a:rPr sz="1300">
                <a:solidFill>
                  <a:srgbClr val="1F2A37"/>
                </a:solidFill>
                <a:latin typeface="Calibri"/>
              </a:rPr>
              <a:t>•  User pain: noticeable lag once prompts include the system prompt + tool descriptions + history</a:t>
            </a:r>
          </a:p>
          <a:p>
            <a:pPr algn="l">
              <a:spcAft>
                <a:spcPts val="600"/>
              </a:spcAft>
            </a:pPr>
            <a:r>
              <a:rPr sz="1300">
                <a:solidFill>
                  <a:srgbClr val="1F2A37"/>
                </a:solidFill>
                <a:latin typeface="Calibri"/>
              </a:rPr>
              <a:t>•  Business pain: launch blocked on a sub-second instant-feel experience — adding GPUs doesn't help, latency is per-request</a:t>
            </a:r>
          </a:p>
          <a:p>
            <a:pPr algn="l">
              <a:spcAft>
                <a:spcPts val="600"/>
              </a:spcAft>
            </a:pPr>
            <a:r>
              <a:rPr sz="1300">
                <a:solidFill>
                  <a:srgbClr val="1F2A37"/>
                </a:solidFill>
                <a:latin typeface="Calibri"/>
              </a:rPr>
              <a:t>•  Question: which levers cut per-request latency, by how much, and at what cost?</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DEFINITIONS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'fast' means for this app</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ONE REQUEST, OVER TIME</a:t>
            </a:r>
          </a:p>
        </p:txBody>
      </p:sp>
      <p:pic>
        <p:nvPicPr>
          <p:cNvPr id="6" name="Picture 5" descr="diagram_ttft_tpot_timeline.png"/>
          <p:cNvPicPr>
            <a:picLocks noChangeAspect="1"/>
          </p:cNvPicPr>
          <p:nvPr/>
        </p:nvPicPr>
        <p:blipFill>
          <a:blip r:embed="rId2"/>
          <a:stretch>
            <a:fillRect/>
          </a:stretch>
        </p:blipFill>
        <p:spPr>
          <a:xfrm>
            <a:off x="365760" y="2103120"/>
            <a:ext cx="6949440" cy="2489054"/>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 I MEASURED</a:t>
            </a:r>
          </a:p>
        </p:txBody>
      </p:sp>
      <p:sp>
        <p:nvSpPr>
          <p:cNvPr id="8" name="TextBox 7"/>
          <p:cNvSpPr txBox="1"/>
          <p:nvPr/>
        </p:nvSpPr>
        <p:spPr>
          <a:xfrm>
            <a:off x="7589520" y="2057400"/>
            <a:ext cx="4206240" cy="3931920"/>
          </a:xfrm>
          <a:prstGeom prst="rect">
            <a:avLst/>
          </a:prstGeom>
          <a:noFill/>
        </p:spPr>
        <p:txBody>
          <a:bodyPr wrap="square" lIns="0" rIns="0" tIns="0" bIns="0">
            <a:spAutoFit/>
          </a:bodyPr>
          <a:lstStyle/>
          <a:p>
            <a:pPr algn="l">
              <a:spcAft>
                <a:spcPts val="600"/>
              </a:spcAft>
            </a:pPr>
            <a:r>
              <a:rPr sz="1300">
                <a:solidFill>
                  <a:srgbClr val="1F2A37"/>
                </a:solidFill>
                <a:latin typeface="Calibri"/>
              </a:rPr>
              <a:t>•  TTFT — time to first token (how long until anything appears)</a:t>
            </a:r>
          </a:p>
          <a:p>
            <a:pPr algn="l">
              <a:spcAft>
                <a:spcPts val="600"/>
              </a:spcAft>
            </a:pPr>
            <a:r>
              <a:rPr sz="1300">
                <a:solidFill>
                  <a:srgbClr val="1F2A37"/>
                </a:solidFill>
                <a:latin typeface="Calibri"/>
              </a:rPr>
              <a:t>•  TPOT — time per output token (how fast the rest stream in)</a:t>
            </a:r>
          </a:p>
          <a:p>
            <a:pPr algn="l">
              <a:spcAft>
                <a:spcPts val="600"/>
              </a:spcAft>
            </a:pPr>
            <a:r>
              <a:rPr sz="1300">
                <a:solidFill>
                  <a:srgbClr val="1F2A37"/>
                </a:solidFill>
                <a:latin typeface="Calibri"/>
              </a:rPr>
              <a:t>•  Total request time = TTFT + tokens × TPOT</a:t>
            </a:r>
          </a:p>
          <a:p>
            <a:pPr algn="l">
              <a:spcAft>
                <a:spcPts val="600"/>
              </a:spcAft>
            </a:pPr>
            <a:r>
              <a:rPr sz="1300">
                <a:solidFill>
                  <a:srgbClr val="1F2A37"/>
                </a:solidFill>
                <a:latin typeface="Calibri"/>
              </a:rPr>
              <a:t>•  Test grid: typical chat-app prompt lengths (128–1500 tokens)</a:t>
            </a:r>
          </a:p>
          <a:p>
            <a:pPr algn="l">
              <a:spcAft>
                <a:spcPts val="600"/>
              </a:spcAft>
            </a:pPr>
            <a:r>
              <a:rPr sz="1300">
                <a:solidFill>
                  <a:srgbClr val="1F2A37"/>
                </a:solidFill>
                <a:latin typeface="Calibri"/>
              </a:rPr>
              <a:t>•  Model max context: 4,096 tokens — test sizes stay well inside that</a:t>
            </a:r>
          </a:p>
          <a:p>
            <a:pPr algn="l">
              <a:spcAft>
                <a:spcPts val="600"/>
              </a:spcAft>
            </a:pPr>
            <a:r>
              <a:rPr sz="1300">
                <a:solidFill>
                  <a:srgbClr val="1F2A37"/>
                </a:solidFill>
                <a:latin typeface="Calibri"/>
              </a:rPr>
              <a:t>•  SLA: TTFT &lt; 15 ms, TPOT &lt; 2.5 ms, end-to-end &lt; 500 ms (p90, single-user)</a:t>
            </a:r>
          </a:p>
        </p:txBody>
      </p:sp>
      <p:sp>
        <p:nvSpPr>
          <p:cNvPr id="9" name="TextBox 8"/>
          <p:cNvSpPr txBox="1"/>
          <p:nvPr/>
        </p:nvSpPr>
        <p:spPr>
          <a:xfrm>
            <a:off x="7589520" y="5897880"/>
            <a:ext cx="4206240" cy="548640"/>
          </a:xfrm>
          <a:prstGeom prst="rect">
            <a:avLst/>
          </a:prstGeom>
          <a:noFill/>
        </p:spPr>
        <p:txBody>
          <a:bodyPr wrap="square" lIns="0" rIns="0" tIns="0" bIns="0">
            <a:spAutoFit/>
          </a:bodyPr>
          <a:lstStyle/>
          <a:p>
            <a:pPr algn="l"/>
            <a:r>
              <a:rPr sz="900" b="0" i="1">
                <a:solidFill>
                  <a:srgbClr val="555F6E"/>
                </a:solidFill>
                <a:latin typeface="Calibri"/>
              </a:rPr>
              <a:t>SLA chosen for an "instant-feel" chat experience: TTFT below perceptual-immediacy threshold, streaming faster than reading speed, half-second total response. Pending product confirmation.</a:t>
            </a:r>
          </a:p>
        </p:txBody>
      </p:sp>
      <p:sp>
        <p:nvSpPr>
          <p:cNvPr id="10" name="TextBox 9"/>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1" name="TextBox 10"/>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APPROACH</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The method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1.  Measure — clean, repeatable baseline (TTFT/TPOT, seed-pinned)</a:t>
            </a:r>
          </a:p>
          <a:p>
            <a:pPr algn="l">
              <a:spcAft>
                <a:spcPts val="800"/>
              </a:spcAft>
            </a:pPr>
            <a:r>
              <a:rPr sz="2000">
                <a:solidFill>
                  <a:srgbClr val="1F2A37"/>
                </a:solidFill>
                <a:latin typeface="Calibri"/>
              </a:rPr>
              <a:t>•  2.  Profile — kernel-level breakdown via torch.profiler</a:t>
            </a:r>
          </a:p>
          <a:p>
            <a:pPr algn="l">
              <a:spcAft>
                <a:spcPts val="800"/>
              </a:spcAft>
            </a:pPr>
            <a:r>
              <a:rPr sz="2000">
                <a:solidFill>
                  <a:srgbClr val="1F2A37"/>
                </a:solidFill>
                <a:latin typeface="Calibri"/>
              </a:rPr>
              <a:t>•  3.  Try one lever at a time — measure each delta against the baseline</a:t>
            </a:r>
          </a:p>
          <a:p>
            <a:pPr algn="l">
              <a:spcAft>
                <a:spcPts val="800"/>
              </a:spcAft>
            </a:pPr>
            <a:r>
              <a:rPr sz="2000">
                <a:solidFill>
                  <a:srgbClr val="1F2A37"/>
                </a:solidFill>
                <a:latin typeface="Calibri"/>
              </a:rPr>
              <a:t>•  4.  Decide — rank by impact, name the trade-offs, recommend</a:t>
            </a:r>
          </a:p>
        </p:txBody>
      </p:sp>
      <p:sp>
        <p:nvSpPr>
          <p:cNvPr id="6" name="TextBox 5"/>
          <p:cNvSpPr txBox="1"/>
          <p:nvPr/>
        </p:nvSpPr>
        <p:spPr>
          <a:xfrm>
            <a:off x="548640" y="5760720"/>
            <a:ext cx="11155680" cy="548640"/>
          </a:xfrm>
          <a:prstGeom prst="rect">
            <a:avLst/>
          </a:prstGeom>
          <a:noFill/>
        </p:spPr>
        <p:txBody>
          <a:bodyPr wrap="square" lIns="0" rIns="0" tIns="0" bIns="0">
            <a:spAutoFit/>
          </a:bodyPr>
          <a:lstStyle/>
          <a:p>
            <a:pPr algn="l"/>
            <a:r>
              <a:rPr sz="1500" b="0" i="1">
                <a:solidFill>
                  <a:srgbClr val="C04A2A"/>
                </a:solidFill>
                <a:latin typeface="Calibri"/>
              </a:rPr>
              <a:t>Skip any step and I'd optimize the wrong thing — or claim a win that's just noise.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MEASURE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I'm starting from — single Blackwell GPU, batch size = 1</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1645920"/>
                <a:gridCol w="2194560"/>
                <a:gridCol w="2103120"/>
                <a:gridCol w="2926080"/>
                <a:gridCol w="2194560"/>
              </a:tblGrid>
              <a:tr h="512064">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TTFT mean (ms)</a:t>
                      </a:r>
                    </a:p>
                  </a:txBody>
                  <a:tcPr marL="60000" marR="60000" marT="40000" marB="40000" anchor="ctr">
                    <a:solidFill>
                      <a:srgbClr val="F2F4F7"/>
                    </a:solidFill>
                  </a:tcPr>
                </a:tc>
                <a:tc>
                  <a:txBody>
                    <a:bodyPr/>
                    <a:lstStyle/>
                    <a:p>
                      <a:r>
                        <a:rPr sz="1500" b="1">
                          <a:solidFill>
                            <a:srgbClr val="555F6E"/>
                          </a:solidFill>
                          <a:latin typeface="Calibri"/>
                        </a:rPr>
                        <a:t>TTFT p90 (ms)</a:t>
                      </a:r>
                    </a:p>
                  </a:txBody>
                  <a:tcPr marL="60000" marR="60000" marT="40000" marB="40000" anchor="ctr">
                    <a:solidFill>
                      <a:srgbClr val="F2F4F7"/>
                    </a:solidFill>
                  </a:tcPr>
                </a:tc>
                <a:tc>
                  <a:txBody>
                    <a:bodyPr/>
                    <a:lstStyle/>
                    <a:p>
                      <a:r>
                        <a:rPr sz="1500" b="1">
                          <a:solidFill>
                            <a:srgbClr val="555F6E"/>
                          </a:solidFill>
                          <a:latin typeface="Calibri"/>
                        </a:rPr>
                        <a:t>End-to-end @ 200 tokens (ms)</a:t>
                      </a:r>
                    </a:p>
                  </a:txBody>
                  <a:tcPr marL="60000" marR="60000" marT="40000" marB="40000" anchor="ctr">
                    <a:solidFill>
                      <a:srgbClr val="F2F4F7"/>
                    </a:solidFill>
                  </a:tcPr>
                </a:tc>
                <a:tc>
                  <a:txBody>
                    <a:bodyPr/>
                    <a:lstStyle/>
                    <a:p>
                      <a:r>
                        <a:rPr sz="1500" b="1">
                          <a:solidFill>
                            <a:srgbClr val="555F6E"/>
                          </a:solidFill>
                          <a:latin typeface="Calibri"/>
                        </a:rPr>
                        <a:t>TPOT (ms per token)</a:t>
                      </a:r>
                    </a:p>
                  </a:txBody>
                  <a:tcPr marL="60000" marR="60000" marT="40000" marB="40000" anchor="ctr">
                    <a:solidFill>
                      <a:srgbClr val="F2F4F7"/>
                    </a:solidFill>
                  </a:tcPr>
                </a:tc>
              </a:tr>
              <a:tr h="512064">
                <a:tc>
                  <a:txBody>
                    <a:bodyPr/>
                    <a:lstStyle/>
                    <a:p>
                      <a:r>
                        <a:rPr sz="1500" b="0">
                          <a:solidFill>
                            <a:srgbClr val="1F2A37"/>
                          </a:solidFill>
                          <a:latin typeface="Calibri"/>
                        </a:rPr>
                        <a:t>128</a:t>
                      </a:r>
                    </a:p>
                  </a:txBody>
                  <a:tcPr marL="60000" marR="60000" marT="40000" marB="40000" anchor="ctr">
                    <a:solidFill>
                      <a:srgbClr val="FFFFFF"/>
                    </a:solidFill>
                  </a:tcPr>
                </a:tc>
                <a:tc>
                  <a:txBody>
                    <a:bodyPr/>
                    <a:lstStyle/>
                    <a:p>
                      <a:r>
                        <a:rPr sz="1500" b="0">
                          <a:solidFill>
                            <a:srgbClr val="1F2A37"/>
                          </a:solidFill>
                          <a:latin typeface="Calibri"/>
                        </a:rPr>
                        <a:t>10.5</a:t>
                      </a:r>
                    </a:p>
                  </a:txBody>
                  <a:tcPr marL="60000" marR="60000" marT="40000" marB="40000" anchor="ctr">
                    <a:solidFill>
                      <a:srgbClr val="FFFFFF"/>
                    </a:solidFill>
                  </a:tcPr>
                </a:tc>
                <a:tc>
                  <a:txBody>
                    <a:bodyPr/>
                    <a:lstStyle/>
                    <a:p>
                      <a:r>
                        <a:rPr sz="1500" b="0">
                          <a:solidFill>
                            <a:srgbClr val="1F2A37"/>
                          </a:solidFill>
                          <a:latin typeface="Calibri"/>
                        </a:rPr>
                        <a:t>10.6</a:t>
                      </a:r>
                    </a:p>
                  </a:txBody>
                  <a:tcPr marL="60000" marR="60000" marT="40000" marB="40000" anchor="ctr">
                    <a:solidFill>
                      <a:srgbClr val="FFFFFF"/>
                    </a:solidFill>
                  </a:tcPr>
                </a:tc>
                <a:tc>
                  <a:txBody>
                    <a:bodyPr/>
                    <a:lstStyle/>
                    <a:p>
                      <a:r>
                        <a:rPr sz="1500" b="0">
                          <a:solidFill>
                            <a:srgbClr val="1F2A37"/>
                          </a:solidFill>
                          <a:latin typeface="Calibri"/>
                        </a:rPr>
                        <a:t>476</a:t>
                      </a:r>
                    </a:p>
                  </a:txBody>
                  <a:tcPr marL="60000" marR="60000" marT="40000" marB="40000" anchor="ctr">
                    <a:solidFill>
                      <a:srgbClr val="FFFFFF"/>
                    </a:solidFill>
                  </a:tcPr>
                </a:tc>
                <a:tc>
                  <a:txBody>
                    <a:bodyPr/>
                    <a:lstStyle/>
                    <a:p>
                      <a:r>
                        <a:rPr sz="1500" b="0">
                          <a:solidFill>
                            <a:srgbClr val="1F2A37"/>
                          </a:solidFill>
                          <a:latin typeface="Calibri"/>
                        </a:rPr>
                        <a:t>2.34</a:t>
                      </a:r>
                    </a:p>
                  </a:txBody>
                  <a:tcPr marL="60000" marR="60000" marT="40000" marB="40000" anchor="ctr">
                    <a:solidFill>
                      <a:srgbClr val="FFFFFF"/>
                    </a:solidFill>
                  </a:tcPr>
                </a:tc>
              </a:tr>
              <a:tr h="512064">
                <a:tc>
                  <a:txBody>
                    <a:bodyPr/>
                    <a:lstStyle/>
                    <a:p>
                      <a:r>
                        <a:rPr sz="1500" b="0">
                          <a:solidFill>
                            <a:srgbClr val="1F2A37"/>
                          </a:solidFill>
                          <a:latin typeface="Calibri"/>
                        </a:rPr>
                        <a:t>512</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1">
                          <a:solidFill>
                            <a:srgbClr val="C04A2A"/>
                          </a:solidFill>
                          <a:latin typeface="Calibri"/>
                        </a:rPr>
                        <a:t>505</a:t>
                      </a:r>
                    </a:p>
                  </a:txBody>
                  <a:tcPr marL="60000" marR="60000" marT="40000" marB="40000" anchor="ctr">
                    <a:solidFill>
                      <a:srgbClr val="FAFBFC"/>
                    </a:solidFill>
                  </a:tcPr>
                </a:tc>
                <a:tc>
                  <a:txBody>
                    <a:bodyPr/>
                    <a:lstStyle/>
                    <a:p>
                      <a:r>
                        <a:rPr sz="1500" b="0">
                          <a:solidFill>
                            <a:srgbClr val="1F2A37"/>
                          </a:solidFill>
                          <a:latin typeface="Calibri"/>
                        </a:rPr>
                        <a:t>2.47</a:t>
                      </a:r>
                    </a:p>
                  </a:txBody>
                  <a:tcPr marL="60000" marR="60000" marT="40000" marB="40000" anchor="ctr">
                    <a:solidFill>
                      <a:srgbClr val="FAFBFC"/>
                    </a:solidFill>
                  </a:tcPr>
                </a:tc>
              </a:tr>
              <a:tr h="512064">
                <a:tc>
                  <a:txBody>
                    <a:bodyPr/>
                    <a:lstStyle/>
                    <a:p>
                      <a:r>
                        <a:rPr sz="1500" b="0">
                          <a:solidFill>
                            <a:srgbClr val="1F2A37"/>
                          </a:solidFill>
                          <a:latin typeface="Calibri"/>
                        </a:rPr>
                        <a:t>1024</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565</a:t>
                      </a:r>
                    </a:p>
                  </a:txBody>
                  <a:tcPr marL="60000" marR="60000" marT="40000" marB="40000" anchor="ctr">
                    <a:solidFill>
                      <a:srgbClr val="FFFFFF"/>
                    </a:solidFill>
                  </a:tcPr>
                </a:tc>
                <a:tc>
                  <a:txBody>
                    <a:bodyPr/>
                    <a:lstStyle/>
                    <a:p>
                      <a:r>
                        <a:rPr sz="1500" b="1">
                          <a:solidFill>
                            <a:srgbClr val="C04A2A"/>
                          </a:solidFill>
                          <a:latin typeface="Calibri"/>
                        </a:rPr>
                        <a:t>2.74</a:t>
                      </a:r>
                    </a:p>
                  </a:txBody>
                  <a:tcPr marL="60000" marR="60000" marT="40000" marB="40000" anchor="ctr">
                    <a:solidFill>
                      <a:srgbClr val="FFFFFF"/>
                    </a:solidFill>
                  </a:tcPr>
                </a:tc>
              </a:tr>
              <a:tr h="512064">
                <a:tc>
                  <a:txBody>
                    <a:bodyPr/>
                    <a:lstStyle/>
                    <a:p>
                      <a:r>
                        <a:rPr sz="1500" b="0">
                          <a:solidFill>
                            <a:srgbClr val="1F2A37"/>
                          </a:solidFill>
                          <a:latin typeface="Calibri"/>
                        </a:rPr>
                        <a:t>1500</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603</a:t>
                      </a:r>
                    </a:p>
                  </a:txBody>
                  <a:tcPr marL="60000" marR="60000" marT="40000" marB="40000" anchor="ctr">
                    <a:solidFill>
                      <a:srgbClr val="FAFBFC"/>
                    </a:solidFill>
                  </a:tcPr>
                </a:tc>
                <a:tc>
                  <a:txBody>
                    <a:bodyPr/>
                    <a:lstStyle/>
                    <a:p>
                      <a:r>
                        <a:rPr sz="1500" b="1">
                          <a:solidFill>
                            <a:srgbClr val="C04A2A"/>
                          </a:solidFill>
                          <a:latin typeface="Calibri"/>
                        </a:rPr>
                        <a:t>2.90</a:t>
                      </a:r>
                    </a:p>
                  </a:txBody>
                  <a:tcPr marL="60000" marR="60000" marT="40000" marB="40000" anchor="ctr">
                    <a:solidFill>
                      <a:srgbClr val="FAFBFC"/>
                    </a:solidFill>
                  </a:tcPr>
                </a:tc>
              </a:tr>
            </a:tbl>
          </a:graphicData>
        </a:graphic>
      </p:graphicFrame>
      <p:sp>
        <p:nvSpPr>
          <p:cNvPr id="6" name="TextBox 5"/>
          <p:cNvSpPr txBox="1"/>
          <p:nvPr/>
        </p:nvSpPr>
        <p:spPr>
          <a:xfrm>
            <a:off x="548640" y="4663440"/>
            <a:ext cx="11155680" cy="548640"/>
          </a:xfrm>
          <a:prstGeom prst="rect">
            <a:avLst/>
          </a:prstGeom>
          <a:noFill/>
        </p:spPr>
        <p:txBody>
          <a:bodyPr wrap="square" lIns="0" rIns="0" tIns="0" bIns="0">
            <a:spAutoFit/>
          </a:bodyPr>
          <a:lstStyle/>
          <a:p>
            <a:pPr algn="l"/>
            <a:r>
              <a:rPr sz="1400" b="0" i="1">
                <a:solidFill>
                  <a:srgbClr val="555F6E"/>
                </a:solidFill>
                <a:latin typeface="Calibri"/>
              </a:rPr>
              <a:t>Red cells miss the SLA (TTFT &lt; 15 ms, TPOT &lt; 2.5 ms, e2e &lt; 500 ms). Baseline starts failing at L=512 — exactly the chat-app range.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PROFILE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the time goes — and where it doesn't</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PREFILL TTFT BREAKDOWN</a:t>
            </a:r>
          </a:p>
        </p:txBody>
      </p:sp>
      <p:pic>
        <p:nvPicPr>
          <p:cNvPr id="6" name="Picture 5" descr="diagram_prefill_kernels.png"/>
          <p:cNvPicPr>
            <a:picLocks noChangeAspect="1"/>
          </p:cNvPicPr>
          <p:nvPr/>
        </p:nvPicPr>
        <p:blipFill>
          <a:blip r:embed="rId2"/>
          <a:stretch>
            <a:fillRect/>
          </a:stretch>
        </p:blipFill>
        <p:spPr>
          <a:xfrm>
            <a:off x="457200" y="2194560"/>
            <a:ext cx="6949440" cy="1593908"/>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TAKEAWAYS</a:t>
            </a:r>
          </a:p>
        </p:txBody>
      </p:sp>
      <p:sp>
        <p:nvSpPr>
          <p:cNvPr id="8" name="TextBox 7"/>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400">
                <a:solidFill>
                  <a:srgbClr val="1F2A37"/>
                </a:solidFill>
                <a:latin typeface="Calibri"/>
              </a:rPr>
              <a:t>•  fused_moe_kernel — grouped-GEMM on tensor cores — owns ~80% of prefill</a:t>
            </a:r>
          </a:p>
          <a:p>
            <a:pPr algn="l">
              <a:spcAft>
                <a:spcPts val="600"/>
              </a:spcAft>
            </a:pPr>
            <a:r>
              <a:rPr sz="1400">
                <a:solidFill>
                  <a:srgbClr val="1F2A37"/>
                </a:solidFill>
                <a:latin typeface="Calibri"/>
              </a:rPr>
              <a:t>•  Decode is memory-bandwidth-bound on projection-weight loads</a:t>
            </a:r>
          </a:p>
          <a:p>
            <a:pPr algn="l">
              <a:spcAft>
                <a:spcPts val="600"/>
              </a:spcAft>
            </a:pPr>
            <a:r>
              <a:rPr sz="1400">
                <a:solidFill>
                  <a:srgbClr val="1F2A37"/>
                </a:solidFill>
                <a:latin typeface="Calibri"/>
              </a:rPr>
              <a:t>•  Hot path is already production-tuned in vLLM — no kernel headroom</a:t>
            </a:r>
          </a:p>
          <a:p>
            <a:pPr algn="l">
              <a:spcAft>
                <a:spcPts val="600"/>
              </a:spcAft>
            </a:pPr>
            <a:r>
              <a:rPr sz="1400">
                <a:solidFill>
                  <a:srgbClr val="1F2A37"/>
                </a:solidFill>
                <a:latin typeface="Calibri"/>
              </a:rPr>
              <a:t>•  Levers live above the kernels: quantization, caching, batching, parallelism</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LEVERS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tried — and what each one bought us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3840480"/>
                <a:gridCol w="1828800"/>
                <a:gridCol w="5394960"/>
              </a:tblGrid>
              <a:tr h="512064">
                <a:tc>
                  <a:txBody>
                    <a:bodyPr/>
                    <a:lstStyle/>
                    <a:p>
                      <a:r>
                        <a:rPr sz="1500" b="1">
                          <a:solidFill>
                            <a:srgbClr val="555F6E"/>
                          </a:solidFill>
                          <a:latin typeface="Calibri"/>
                        </a:rPr>
                        <a:t>Change</a:t>
                      </a:r>
                    </a:p>
                  </a:txBody>
                  <a:tcPr marL="60000" marR="60000" marT="40000" marB="40000" anchor="ctr">
                    <a:solidFill>
                      <a:srgbClr val="F2F4F7"/>
                    </a:solidFill>
                  </a:tcPr>
                </a:tc>
                <a:tc>
                  <a:txBody>
                    <a:bodyPr/>
                    <a:lstStyle/>
                    <a:p>
                      <a:r>
                        <a:rPr sz="1500" b="1">
                          <a:solidFill>
                            <a:srgbClr val="555F6E"/>
                          </a:solidFill>
                          <a:latin typeface="Calibri"/>
                        </a:rPr>
                        <a:t>Status</a:t>
                      </a:r>
                    </a:p>
                  </a:txBody>
                  <a:tcPr marL="60000" marR="60000" marT="40000" marB="40000" anchor="ctr">
                    <a:solidFill>
                      <a:srgbClr val="F2F4F7"/>
                    </a:solidFill>
                  </a:tcPr>
                </a:tc>
                <a:tc>
                  <a:txBody>
                    <a:bodyPr/>
                    <a:lstStyle/>
                    <a:p>
                      <a:r>
                        <a:rPr sz="1500" b="1">
                          <a:solidFill>
                            <a:srgbClr val="555F6E"/>
                          </a:solidFill>
                          <a:latin typeface="Calibri"/>
                        </a:rPr>
                        <a:t>What it bought us (per-request)</a:t>
                      </a:r>
                    </a:p>
                  </a:txBody>
                  <a:tcPr marL="60000" marR="60000" marT="40000" marB="40000" anchor="ctr">
                    <a:solidFill>
                      <a:srgbClr val="F2F4F7"/>
                    </a:solidFill>
                  </a:tcPr>
                </a:tc>
              </a:tr>
              <a:tr h="512064">
                <a:tc>
                  <a:txBody>
                    <a:bodyPr/>
                    <a:lstStyle/>
                    <a:p>
                      <a:r>
                        <a:rPr sz="1500" b="0">
                          <a:solidFill>
                            <a:srgbClr val="1F2A37"/>
                          </a:solidFill>
                          <a:latin typeface="Calibri"/>
                        </a:rPr>
                        <a:t>FP8 quantization</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end-to-end 17% faster, TPOT 17% faster</a:t>
                      </a:r>
                    </a:p>
                  </a:txBody>
                  <a:tcPr marL="60000" marR="60000" marT="40000" marB="40000" anchor="ctr">
                    <a:solidFill>
                      <a:srgbClr val="FFFFFF"/>
                    </a:solidFill>
                  </a:tcPr>
                </a:tc>
              </a:tr>
              <a:tr h="512064">
                <a:tc>
                  <a:txBody>
                    <a:bodyPr/>
                    <a:lstStyle/>
                    <a:p>
                      <a:r>
                        <a:rPr sz="1500" b="0">
                          <a:solidFill>
                            <a:srgbClr val="1F2A37"/>
                          </a:solidFill>
                          <a:latin typeface="Calibri"/>
                        </a:rPr>
                        <a:t>Prefix caching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TTFT 40% faster on shared prompts (P=2048)</a:t>
                      </a:r>
                    </a:p>
                  </a:txBody>
                  <a:tcPr marL="60000" marR="60000" marT="40000" marB="40000" anchor="ctr">
                    <a:solidFill>
                      <a:srgbClr val="FAFBFC"/>
                    </a:solidFill>
                  </a:tcPr>
                </a:tc>
              </a:tr>
              <a:tr h="512064">
                <a:tc>
                  <a:txBody>
                    <a:bodyPr/>
                    <a:lstStyle/>
                    <a:p>
                      <a:r>
                        <a:rPr sz="1500" b="0">
                          <a:solidFill>
                            <a:srgbClr val="1F2A37"/>
                          </a:solidFill>
                          <a:latin typeface="Calibri"/>
                        </a:rPr>
                        <a:t>Tensor parallelism (2 GPUs)</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TPOT 14% faster; TTFT roughly flat at chat-app prompt sizes (L ≥ 512)</a:t>
                      </a:r>
                    </a:p>
                  </a:txBody>
                  <a:tcPr marL="60000" marR="60000" marT="40000" marB="40000" anchor="ctr">
                    <a:solidFill>
                      <a:srgbClr val="FFFFFF"/>
                    </a:solidFill>
                  </a:tcPr>
                </a:tc>
              </a:tr>
              <a:tr h="512064">
                <a:tc>
                  <a:txBody>
                    <a:bodyPr/>
                    <a:lstStyle/>
                    <a:p>
                      <a:r>
                        <a:rPr sz="1500" b="0">
                          <a:solidFill>
                            <a:srgbClr val="1F2A37"/>
                          </a:solidFill>
                          <a:latin typeface="Calibri"/>
                        </a:rPr>
                        <a:t>Continuous batching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per-request TPOT 4× worse at B=32; not a latency lever — throughput trade only</a:t>
                      </a:r>
                    </a:p>
                  </a:txBody>
                  <a:tcPr marL="60000" marR="60000" marT="40000" marB="40000" anchor="ctr">
                    <a:solidFill>
                      <a:srgbClr val="FAFBFC"/>
                    </a:solidFill>
                  </a:tcPr>
                </a:tc>
              </a:tr>
            </a:tbl>
          </a:graphicData>
        </a:graphic>
      </p:graphicFrame>
      <p:sp>
        <p:nvSpPr>
          <p:cNvPr id="6" name="TextBox 5"/>
          <p:cNvSpPr txBox="1"/>
          <p:nvPr/>
        </p:nvSpPr>
        <p:spPr>
          <a:xfrm>
            <a:off x="548640" y="4754880"/>
            <a:ext cx="11155680" cy="548640"/>
          </a:xfrm>
          <a:prstGeom prst="rect">
            <a:avLst/>
          </a:prstGeom>
          <a:noFill/>
        </p:spPr>
        <p:txBody>
          <a:bodyPr wrap="square" lIns="0" rIns="0" tIns="0" bIns="0">
            <a:spAutoFit/>
          </a:bodyPr>
          <a:lstStyle/>
          <a:p>
            <a:pPr algn="l"/>
            <a:r>
              <a:rPr sz="1400" b="0" i="1">
                <a:solidFill>
                  <a:srgbClr val="555F6E"/>
                </a:solidFill>
                <a:latin typeface="Calibri"/>
              </a:rPr>
              <a:t>Each change measured the same way against the same baseline.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RESULTS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TTFT — baseline vs two levers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ttft_vs_length.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RESULTS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TPOT — baseline vs two levers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tpot_vs_length.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TRADE-OFFS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Prefix caching — payoff scales with shared-prefix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prefix_caching.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THE FOURTH LEVER</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Continuous batching is a throughput lever, not a latency one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batching_pareto.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TTFT</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sla_verdict_ttft.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TPOT</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sla_verdict_tpot.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end-to-end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sla_verdict_e2e.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BUSINESS VALUE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this is worth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5486400" cy="274320"/>
          </a:xfrm>
          <a:prstGeom prst="rect">
            <a:avLst/>
          </a:prstGeom>
          <a:noFill/>
        </p:spPr>
        <p:txBody>
          <a:bodyPr wrap="square" lIns="0" rIns="0" tIns="0" bIns="0">
            <a:spAutoFit/>
          </a:bodyPr>
          <a:lstStyle/>
          <a:p>
            <a:pPr algn="l"/>
            <a:r>
              <a:rPr sz="1100" b="1" i="0">
                <a:solidFill>
                  <a:srgbClr val="2E66C2"/>
                </a:solidFill>
                <a:latin typeface="Calibri"/>
              </a:rPr>
              <a:t>PER-REQUEST SPEED</a:t>
            </a:r>
          </a:p>
        </p:txBody>
      </p:sp>
      <p:sp>
        <p:nvSpPr>
          <p:cNvPr id="6" name="TextBox 5"/>
          <p:cNvSpPr txBox="1"/>
          <p:nvPr/>
        </p:nvSpPr>
        <p:spPr>
          <a:xfrm>
            <a:off x="548640" y="2057400"/>
            <a:ext cx="5486400" cy="548640"/>
          </a:xfrm>
          <a:prstGeom prst="rect">
            <a:avLst/>
          </a:prstGeom>
          <a:noFill/>
        </p:spPr>
        <p:txBody>
          <a:bodyPr wrap="square" lIns="0" rIns="0" tIns="0" bIns="0">
            <a:spAutoFit/>
          </a:bodyPr>
          <a:lstStyle/>
          <a:p>
            <a:pPr algn="l"/>
            <a:r>
              <a:rPr sz="2600" b="1" i="0">
                <a:solidFill>
                  <a:srgbClr val="1F2A37"/>
                </a:solidFill>
                <a:latin typeface="Calibri"/>
              </a:rPr>
              <a:t>Up to ~50% faster TTFT</a:t>
            </a:r>
          </a:p>
        </p:txBody>
      </p:sp>
      <p:sp>
        <p:nvSpPr>
          <p:cNvPr id="7" name="TextBox 6"/>
          <p:cNvSpPr txBox="1"/>
          <p:nvPr/>
        </p:nvSpPr>
        <p:spPr>
          <a:xfrm>
            <a:off x="548640" y="2743200"/>
            <a:ext cx="5486400" cy="1371600"/>
          </a:xfrm>
          <a:prstGeom prst="rect">
            <a:avLst/>
          </a:prstGeom>
          <a:noFill/>
        </p:spPr>
        <p:txBody>
          <a:bodyPr wrap="square" lIns="0" rIns="0" tIns="0" bIns="0">
            <a:spAutoFit/>
          </a:bodyPr>
          <a:lstStyle/>
          <a:p>
            <a:pPr algn="l"/>
            <a:r>
              <a:rPr sz="1400" b="0" i="0">
                <a:solidFill>
                  <a:srgbClr val="555F6E"/>
                </a:solidFill>
                <a:latin typeface="Calibri"/>
              </a:rPr>
              <a:t>FP8 cuts ~17% off end-to-end at every prompt size. Prefix caching cuts up to 40% off TTFT on shared system prompts. Combined: roughly half the wait users feel today.</a:t>
            </a:r>
          </a:p>
        </p:txBody>
      </p:sp>
      <p:sp>
        <p:nvSpPr>
          <p:cNvPr id="8" name="TextBox 7"/>
          <p:cNvSpPr txBox="1"/>
          <p:nvPr/>
        </p:nvSpPr>
        <p:spPr>
          <a:xfrm>
            <a:off x="548640" y="4069080"/>
            <a:ext cx="5486400" cy="548640"/>
          </a:xfrm>
          <a:prstGeom prst="rect">
            <a:avLst/>
          </a:prstGeom>
          <a:noFill/>
        </p:spPr>
        <p:txBody>
          <a:bodyPr wrap="square" lIns="0" rIns="0" tIns="0" bIns="0">
            <a:spAutoFit/>
          </a:bodyPr>
          <a:lstStyle/>
          <a:p>
            <a:pPr algn="l"/>
            <a:r>
              <a:rPr sz="1100" b="0" i="1">
                <a:solidFill>
                  <a:srgbClr val="555F6E"/>
                </a:solidFill>
                <a:latin typeface="Calibri"/>
              </a:rPr>
              <a:t>Combined effect estimated from independent measurements; not directly measured together.</a:t>
            </a:r>
          </a:p>
        </p:txBody>
      </p:sp>
      <p:sp>
        <p:nvSpPr>
          <p:cNvPr id="9" name="TextBox 8"/>
          <p:cNvSpPr txBox="1"/>
          <p:nvPr/>
        </p:nvSpPr>
        <p:spPr>
          <a:xfrm>
            <a:off x="548640" y="4754880"/>
            <a:ext cx="5486400" cy="457200"/>
          </a:xfrm>
          <a:prstGeom prst="rect">
            <a:avLst/>
          </a:prstGeom>
          <a:noFill/>
        </p:spPr>
        <p:txBody>
          <a:bodyPr wrap="square" lIns="0" rIns="0" tIns="0" bIns="0">
            <a:spAutoFit/>
          </a:bodyPr>
          <a:lstStyle/>
          <a:p>
            <a:pPr algn="l"/>
            <a:r>
              <a:rPr sz="2200" b="1" i="0">
                <a:solidFill>
                  <a:srgbClr val="1F2A37"/>
                </a:solidFill>
                <a:latin typeface="Calibri"/>
              </a:rPr>
              <a:t>Break-even: Day 1</a:t>
            </a:r>
          </a:p>
        </p:txBody>
      </p:sp>
      <p:sp>
        <p:nvSpPr>
          <p:cNvPr id="10" name="TextBox 9"/>
          <p:cNvSpPr txBox="1"/>
          <p:nvPr/>
        </p:nvSpPr>
        <p:spPr>
          <a:xfrm>
            <a:off x="548640" y="5303520"/>
            <a:ext cx="5486400" cy="914400"/>
          </a:xfrm>
          <a:prstGeom prst="rect">
            <a:avLst/>
          </a:prstGeom>
          <a:noFill/>
        </p:spPr>
        <p:txBody>
          <a:bodyPr wrap="square" lIns="0" rIns="0" tIns="0" bIns="0">
            <a:spAutoFit/>
          </a:bodyPr>
          <a:lstStyle/>
          <a:p>
            <a:pPr algn="l"/>
            <a:r>
              <a:rPr sz="1400" b="0" i="0">
                <a:solidFill>
                  <a:srgbClr val="555F6E"/>
                </a:solidFill>
                <a:latin typeface="Calibri"/>
              </a:rPr>
              <a:t>Both levers are config changes — no new hardware, no downtime, no model retraining.</a:t>
            </a:r>
          </a:p>
        </p:txBody>
      </p:sp>
      <p:sp>
        <p:nvSpPr>
          <p:cNvPr id="11" name="TextBox 10"/>
          <p:cNvSpPr txBox="1"/>
          <p:nvPr/>
        </p:nvSpPr>
        <p:spPr>
          <a:xfrm>
            <a:off x="6400800" y="1691640"/>
            <a:ext cx="5486400" cy="274320"/>
          </a:xfrm>
          <a:prstGeom prst="rect">
            <a:avLst/>
          </a:prstGeom>
          <a:noFill/>
        </p:spPr>
        <p:txBody>
          <a:bodyPr wrap="square" lIns="0" rIns="0" tIns="0" bIns="0">
            <a:spAutoFit/>
          </a:bodyPr>
          <a:lstStyle/>
          <a:p>
            <a:pPr algn="l"/>
            <a:r>
              <a:rPr sz="1100" b="1" i="0">
                <a:solidFill>
                  <a:srgbClr val="2E66C2"/>
                </a:solidFill>
                <a:latin typeface="Calibri"/>
              </a:rPr>
              <a:t>COST PER REQUEST</a:t>
            </a:r>
          </a:p>
        </p:txBody>
      </p:sp>
      <p:sp>
        <p:nvSpPr>
          <p:cNvPr id="12" name="TextBox 11"/>
          <p:cNvSpPr txBox="1"/>
          <p:nvPr/>
        </p:nvSpPr>
        <p:spPr>
          <a:xfrm>
            <a:off x="6400800" y="2057400"/>
            <a:ext cx="5486400" cy="548640"/>
          </a:xfrm>
          <a:prstGeom prst="rect">
            <a:avLst/>
          </a:prstGeom>
          <a:noFill/>
        </p:spPr>
        <p:txBody>
          <a:bodyPr wrap="square" lIns="0" rIns="0" tIns="0" bIns="0">
            <a:spAutoFit/>
          </a:bodyPr>
          <a:lstStyle/>
          <a:p>
            <a:pPr algn="l"/>
            <a:r>
              <a:rPr sz="2400" b="1" i="0">
                <a:solidFill>
                  <a:srgbClr val="1F2A37"/>
                </a:solidFill>
                <a:latin typeface="Calibri"/>
              </a:rPr>
              <a:t>~17% less compute per request</a:t>
            </a:r>
          </a:p>
        </p:txBody>
      </p:sp>
      <p:sp>
        <p:nvSpPr>
          <p:cNvPr id="13" name="TextBox 12"/>
          <p:cNvSpPr txBox="1"/>
          <p:nvPr/>
        </p:nvSpPr>
        <p:spPr>
          <a:xfrm>
            <a:off x="6400800" y="2743200"/>
            <a:ext cx="5486400" cy="1371600"/>
          </a:xfrm>
          <a:prstGeom prst="rect">
            <a:avLst/>
          </a:prstGeom>
          <a:noFill/>
        </p:spPr>
        <p:txBody>
          <a:bodyPr wrap="square" lIns="0" rIns="0" tIns="0" bIns="0">
            <a:spAutoFit/>
          </a:bodyPr>
          <a:lstStyle/>
          <a:p>
            <a:pPr algn="l"/>
            <a:r>
              <a:rPr sz="1400" b="0" i="0">
                <a:solidFill>
                  <a:srgbClr val="555F6E"/>
                </a:solidFill>
                <a:latin typeface="Calibri"/>
              </a:rPr>
              <a:t>FP8 means each request finishes in 17% less GPU-time. Same pod serves more requests per hour at the same per-request latency budget.</a:t>
            </a:r>
          </a:p>
        </p:txBody>
      </p:sp>
      <p:sp>
        <p:nvSpPr>
          <p:cNvPr id="14" name="TextBox 13"/>
          <p:cNvSpPr txBox="1"/>
          <p:nvPr/>
        </p:nvSpPr>
        <p:spPr>
          <a:xfrm>
            <a:off x="6400800" y="4160520"/>
            <a:ext cx="5486400" cy="548640"/>
          </a:xfrm>
          <a:prstGeom prst="rect">
            <a:avLst/>
          </a:prstGeom>
          <a:noFill/>
        </p:spPr>
        <p:txBody>
          <a:bodyPr wrap="square" lIns="0" rIns="0" tIns="0" bIns="0">
            <a:spAutoFit/>
          </a:bodyPr>
          <a:lstStyle/>
          <a:p>
            <a:pPr algn="l"/>
            <a:r>
              <a:rPr sz="2000" b="1" i="0">
                <a:solidFill>
                  <a:srgbClr val="1F2A37"/>
                </a:solidFill>
                <a:latin typeface="Calibri"/>
              </a:rPr>
              <a:t>Same hardware, same code path</a:t>
            </a:r>
          </a:p>
        </p:txBody>
      </p:sp>
      <p:sp>
        <p:nvSpPr>
          <p:cNvPr id="15" name="TextBox 14"/>
          <p:cNvSpPr txBox="1"/>
          <p:nvPr/>
        </p:nvSpPr>
        <p:spPr>
          <a:xfrm>
            <a:off x="6400800" y="4800600"/>
            <a:ext cx="5486400" cy="1371600"/>
          </a:xfrm>
          <a:prstGeom prst="rect">
            <a:avLst/>
          </a:prstGeom>
          <a:noFill/>
        </p:spPr>
        <p:txBody>
          <a:bodyPr wrap="square" lIns="0" rIns="0" tIns="0" bIns="0">
            <a:spAutoFit/>
          </a:bodyPr>
          <a:lstStyle/>
          <a:p>
            <a:pPr algn="l"/>
            <a:r>
              <a:rPr sz="1400" b="0" i="0">
                <a:solidFill>
                  <a:srgbClr val="555F6E"/>
                </a:solidFill>
                <a:latin typeface="Calibri"/>
              </a:rPr>
              <a:t>No re-architecture, no new dependencies, no ops change. Re-baseline whenever the model, vLLM version, or hardware changes.</a:t>
            </a:r>
          </a:p>
        </p:txBody>
      </p:sp>
      <p:sp>
        <p:nvSpPr>
          <p:cNvPr id="16" name="TextBox 1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7" name="TextBox 1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TRADE-OFFS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Trade-offs — nothing is free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4023360"/>
        </p:xfrm>
        <a:graphic>
          <a:graphicData uri="http://schemas.openxmlformats.org/drawingml/2006/table">
            <a:tbl>
              <a:tblPr firstRow="1" bandRow="1">
                <a:tableStyleId>{5C22544A-7EE6-4342-B048-85BDC9FD1C3A}</a:tableStyleId>
              </a:tblPr>
              <a:tblGrid>
                <a:gridCol w="2194560"/>
                <a:gridCol w="2377440"/>
                <a:gridCol w="3383280"/>
                <a:gridCol w="3474720"/>
              </a:tblGrid>
              <a:tr h="804672">
                <a:tc>
                  <a:txBody>
                    <a:bodyPr/>
                    <a:lstStyle/>
                    <a:p>
                      <a:r>
                        <a:rPr sz="1200" b="1">
                          <a:solidFill>
                            <a:srgbClr val="555F6E"/>
                          </a:solidFill>
                          <a:latin typeface="Calibri"/>
                        </a:rPr>
                        <a:t>Technique</a:t>
                      </a:r>
                    </a:p>
                  </a:txBody>
                  <a:tcPr marL="60000" marR="60000" marT="40000" marB="40000" anchor="ctr">
                    <a:solidFill>
                      <a:srgbClr val="F2F4F7"/>
                    </a:solidFill>
                  </a:tcPr>
                </a:tc>
                <a:tc>
                  <a:txBody>
                    <a:bodyPr/>
                    <a:lstStyle/>
                    <a:p>
                      <a:r>
                        <a:rPr sz="1200" b="1">
                          <a:solidFill>
                            <a:srgbClr val="555F6E"/>
                          </a:solidFill>
                          <a:latin typeface="Calibri"/>
                        </a:rPr>
                        <a:t>Upside</a:t>
                      </a:r>
                    </a:p>
                  </a:txBody>
                  <a:tcPr marL="60000" marR="60000" marT="40000" marB="40000" anchor="ctr">
                    <a:solidFill>
                      <a:srgbClr val="F2F4F7"/>
                    </a:solidFill>
                  </a:tcPr>
                </a:tc>
                <a:tc>
                  <a:txBody>
                    <a:bodyPr/>
                    <a:lstStyle/>
                    <a:p>
                      <a:r>
                        <a:rPr sz="1200" b="1">
                          <a:solidFill>
                            <a:srgbClr val="555F6E"/>
                          </a:solidFill>
                          <a:latin typeface="Calibri"/>
                        </a:rPr>
                        <a:t>Risk</a:t>
                      </a:r>
                    </a:p>
                  </a:txBody>
                  <a:tcPr marL="60000" marR="60000" marT="40000" marB="40000" anchor="ctr">
                    <a:solidFill>
                      <a:srgbClr val="F2F4F7"/>
                    </a:solidFill>
                  </a:tcPr>
                </a:tc>
                <a:tc>
                  <a:txBody>
                    <a:bodyPr/>
                    <a:lstStyle/>
                    <a:p>
                      <a:r>
                        <a:rPr sz="1200" b="1">
                          <a:solidFill>
                            <a:srgbClr val="555F6E"/>
                          </a:solidFill>
                          <a:latin typeface="Calibri"/>
                        </a:rPr>
                        <a:t>Mitigation</a:t>
                      </a:r>
                    </a:p>
                  </a:txBody>
                  <a:tcPr marL="60000" marR="60000" marT="40000" marB="40000" anchor="ctr">
                    <a:solidFill>
                      <a:srgbClr val="F2F4F7"/>
                    </a:solidFill>
                  </a:tcPr>
                </a:tc>
              </a:tr>
              <a:tr h="804672">
                <a:tc>
                  <a:txBody>
                    <a:bodyPr/>
                    <a:lstStyle/>
                    <a:p>
                      <a:r>
                        <a:rPr sz="1200" b="0">
                          <a:solidFill>
                            <a:srgbClr val="1F2A37"/>
                          </a:solidFill>
                          <a:latin typeface="Calibri"/>
                        </a:rPr>
                        <a:t>FP8 quantization</a:t>
                      </a:r>
                    </a:p>
                  </a:txBody>
                  <a:tcPr marL="60000" marR="60000" marT="40000" marB="40000" anchor="ctr">
                    <a:solidFill>
                      <a:srgbClr val="FFFFFF"/>
                    </a:solidFill>
                  </a:tcPr>
                </a:tc>
                <a:tc>
                  <a:txBody>
                    <a:bodyPr/>
                    <a:lstStyle/>
                    <a:p>
                      <a:r>
                        <a:rPr sz="1200" b="0">
                          <a:solidFill>
                            <a:srgbClr val="1F2A37"/>
                          </a:solidFill>
                          <a:latin typeface="Calibri"/>
                        </a:rPr>
                        <a:t>17% faster end-to-end</a:t>
                      </a:r>
                    </a:p>
                  </a:txBody>
                  <a:tcPr marL="60000" marR="60000" marT="40000" marB="40000" anchor="ctr">
                    <a:solidFill>
                      <a:srgbClr val="FFFFFF"/>
                    </a:solidFill>
                  </a:tcPr>
                </a:tc>
                <a:tc>
                  <a:txBody>
                    <a:bodyPr/>
                    <a:lstStyle/>
                    <a:p>
                      <a:r>
                        <a:rPr sz="1200" b="0">
                          <a:solidFill>
                            <a:srgbClr val="1F2A37"/>
                          </a:solidFill>
                          <a:latin typeface="Calibri"/>
                        </a:rPr>
                        <a:t>Slight precision loss on some ops</a:t>
                      </a:r>
                    </a:p>
                  </a:txBody>
                  <a:tcPr marL="60000" marR="60000" marT="40000" marB="40000" anchor="ctr">
                    <a:solidFill>
                      <a:srgbClr val="FFFFFF"/>
                    </a:solidFill>
                  </a:tcPr>
                </a:tc>
                <a:tc>
                  <a:txBody>
                    <a:bodyPr/>
                    <a:lstStyle/>
                    <a:p>
                      <a:r>
                        <a:rPr sz="1200" b="0">
                          <a:solidFill>
                            <a:srgbClr val="1F2A37"/>
                          </a:solidFill>
                          <a:latin typeface="Calibri"/>
                        </a:rPr>
                        <a:t>Run eval suite before prod; bf16 fallback available</a:t>
                      </a:r>
                    </a:p>
                  </a:txBody>
                  <a:tcPr marL="60000" marR="60000" marT="40000" marB="40000" anchor="ctr">
                    <a:solidFill>
                      <a:srgbClr val="FFFFFF"/>
                    </a:solidFill>
                  </a:tcPr>
                </a:tc>
              </a:tr>
              <a:tr h="804672">
                <a:tc>
                  <a:txBody>
                    <a:bodyPr/>
                    <a:lstStyle/>
                    <a:p>
                      <a:r>
                        <a:rPr sz="1200" b="0">
                          <a:solidFill>
                            <a:srgbClr val="1F2A37"/>
                          </a:solidFill>
                          <a:latin typeface="Calibri"/>
                        </a:rPr>
                        <a:t>Prefix caching</a:t>
                      </a:r>
                    </a:p>
                  </a:txBody>
                  <a:tcPr marL="60000" marR="60000" marT="40000" marB="40000" anchor="ctr">
                    <a:solidFill>
                      <a:srgbClr val="FAFBFC"/>
                    </a:solidFill>
                  </a:tcPr>
                </a:tc>
                <a:tc>
                  <a:txBody>
                    <a:bodyPr/>
                    <a:lstStyle/>
                    <a:p>
                      <a:r>
                        <a:rPr sz="1200" b="0">
                          <a:solidFill>
                            <a:srgbClr val="1F2A37"/>
                          </a:solidFill>
                          <a:latin typeface="Calibri"/>
                        </a:rPr>
                        <a:t>40% TTFT cut on shared prompts</a:t>
                      </a:r>
                    </a:p>
                  </a:txBody>
                  <a:tcPr marL="60000" marR="60000" marT="40000" marB="40000" anchor="ctr">
                    <a:solidFill>
                      <a:srgbClr val="FAFBFC"/>
                    </a:solidFill>
                  </a:tcPr>
                </a:tc>
                <a:tc>
                  <a:txBody>
                    <a:bodyPr/>
                    <a:lstStyle/>
                    <a:p>
                      <a:r>
                        <a:rPr sz="1200" b="0">
                          <a:solidFill>
                            <a:srgbClr val="1F2A37"/>
                          </a:solidFill>
                          <a:latin typeface="Calibri"/>
                        </a:rPr>
                        <a:t>Cache miss = no benefit; memory overhead</a:t>
                      </a:r>
                    </a:p>
                  </a:txBody>
                  <a:tcPr marL="60000" marR="60000" marT="40000" marB="40000" anchor="ctr">
                    <a:solidFill>
                      <a:srgbClr val="FAFBFC"/>
                    </a:solidFill>
                  </a:tcPr>
                </a:tc>
                <a:tc>
                  <a:txBody>
                    <a:bodyPr/>
                    <a:lstStyle/>
                    <a:p>
                      <a:r>
                        <a:rPr sz="1200" b="0">
                          <a:solidFill>
                            <a:srgbClr val="1F2A37"/>
                          </a:solidFill>
                          <a:latin typeface="Calibri"/>
                        </a:rPr>
                        <a:t>Size KV cache to workload; monitor hit rate</a:t>
                      </a:r>
                    </a:p>
                  </a:txBody>
                  <a:tcPr marL="60000" marR="60000" marT="40000" marB="40000" anchor="ctr">
                    <a:solidFill>
                      <a:srgbClr val="FAFBFC"/>
                    </a:solidFill>
                  </a:tcPr>
                </a:tc>
              </a:tr>
              <a:tr h="804672">
                <a:tc>
                  <a:txBody>
                    <a:bodyPr/>
                    <a:lstStyle/>
                    <a:p>
                      <a:r>
                        <a:rPr sz="1200" b="0">
                          <a:solidFill>
                            <a:srgbClr val="1F2A37"/>
                          </a:solidFill>
                          <a:latin typeface="Calibri"/>
                        </a:rPr>
                        <a:t>Tensor parallel (2 GPUs)</a:t>
                      </a:r>
                    </a:p>
                  </a:txBody>
                  <a:tcPr marL="60000" marR="60000" marT="40000" marB="40000" anchor="ctr">
                    <a:solidFill>
                      <a:srgbClr val="FFFFFF"/>
                    </a:solidFill>
                  </a:tcPr>
                </a:tc>
                <a:tc>
                  <a:txBody>
                    <a:bodyPr/>
                    <a:lstStyle/>
                    <a:p>
                      <a:r>
                        <a:rPr sz="1200" b="0">
                          <a:solidFill>
                            <a:srgbClr val="1F2A37"/>
                          </a:solidFill>
                          <a:latin typeface="Calibri"/>
                        </a:rPr>
                        <a:t>14% TPOT gain at single-user load</a:t>
                      </a:r>
                    </a:p>
                  </a:txBody>
                  <a:tcPr marL="60000" marR="60000" marT="40000" marB="40000" anchor="ctr">
                    <a:solidFill>
                      <a:srgbClr val="FFFFFF"/>
                    </a:solidFill>
                  </a:tcPr>
                </a:tc>
                <a:tc>
                  <a:txBody>
                    <a:bodyPr/>
                    <a:lstStyle/>
                    <a:p>
                      <a:r>
                        <a:rPr sz="1200" b="0">
                          <a:solidFill>
                            <a:srgbClr val="1F2A37"/>
                          </a:solidFill>
                          <a:latin typeface="Calibri"/>
                        </a:rPr>
                        <a:t>TTFT win is small at chat-app prompt sizes (L ≥ 512); concurrency behavior not measured</a:t>
                      </a:r>
                    </a:p>
                  </a:txBody>
                  <a:tcPr marL="60000" marR="60000" marT="40000" marB="40000" anchor="ctr">
                    <a:solidFill>
                      <a:srgbClr val="FFFFFF"/>
                    </a:solidFill>
                  </a:tcPr>
                </a:tc>
                <a:tc>
                  <a:txBody>
                    <a:bodyPr/>
                    <a:lstStyle/>
                    <a:p>
                      <a:r>
                        <a:rPr sz="1200" b="0">
                          <a:solidFill>
                            <a:srgbClr val="1F2A37"/>
                          </a:solidFill>
                          <a:latin typeface="Calibri"/>
                        </a:rPr>
                        <a:t>Use for TPOT bottlenecks; re-measure before scaling under load</a:t>
                      </a:r>
                    </a:p>
                  </a:txBody>
                  <a:tcPr marL="60000" marR="60000" marT="40000" marB="40000" anchor="ctr">
                    <a:solidFill>
                      <a:srgbClr val="FFFFFF"/>
                    </a:solidFill>
                  </a:tcPr>
                </a:tc>
              </a:tr>
              <a:tr h="804672">
                <a:tc>
                  <a:txBody>
                    <a:bodyPr/>
                    <a:lstStyle/>
                    <a:p>
                      <a:r>
                        <a:rPr sz="1200" b="0">
                          <a:solidFill>
                            <a:srgbClr val="1F2A37"/>
                          </a:solidFill>
                          <a:latin typeface="Calibri"/>
                        </a:rPr>
                        <a:t>Continuous batching</a:t>
                      </a:r>
                    </a:p>
                  </a:txBody>
                  <a:tcPr marL="60000" marR="60000" marT="40000" marB="40000" anchor="ctr">
                    <a:solidFill>
                      <a:srgbClr val="FAFBFC"/>
                    </a:solidFill>
                  </a:tcPr>
                </a:tc>
                <a:tc>
                  <a:txBody>
                    <a:bodyPr/>
                    <a:lstStyle/>
                    <a:p>
                      <a:r>
                        <a:rPr sz="1200" b="0">
                          <a:solidFill>
                            <a:srgbClr val="1F2A37"/>
                          </a:solidFill>
                          <a:latin typeface="Calibri"/>
                        </a:rPr>
                        <a:t>Up to 14× pod throughput (cost-per-token)</a:t>
                      </a:r>
                    </a:p>
                  </a:txBody>
                  <a:tcPr marL="60000" marR="60000" marT="40000" marB="40000" anchor="ctr">
                    <a:solidFill>
                      <a:srgbClr val="FAFBFC"/>
                    </a:solidFill>
                  </a:tcPr>
                </a:tc>
                <a:tc>
                  <a:txBody>
                    <a:bodyPr/>
                    <a:lstStyle/>
                    <a:p>
                      <a:r>
                        <a:rPr sz="1200" b="0">
                          <a:solidFill>
                            <a:srgbClr val="1F2A37"/>
                          </a:solidFill>
                          <a:latin typeface="Calibri"/>
                        </a:rPr>
                        <a:t>Per-request TPOT ~4× worse at B=32 — not a latency lever</a:t>
                      </a:r>
                    </a:p>
                  </a:txBody>
                  <a:tcPr marL="60000" marR="60000" marT="40000" marB="40000" anchor="ctr">
                    <a:solidFill>
                      <a:srgbClr val="FAFBFC"/>
                    </a:solidFill>
                  </a:tcPr>
                </a:tc>
                <a:tc>
                  <a:txBody>
                    <a:bodyPr/>
                    <a:lstStyle/>
                    <a:p>
                      <a:r>
                        <a:rPr sz="1200" b="0">
                          <a:solidFill>
                            <a:srgbClr val="1F2A37"/>
                          </a:solidFill>
                          <a:latin typeface="Calibri"/>
                        </a:rPr>
                        <a:t>Use only when throughput beats latency — batch jobs, not chat</a:t>
                      </a:r>
                    </a:p>
                  </a:txBody>
                  <a:tcPr marL="60000" marR="60000" marT="40000" marB="40000" anchor="ctr">
                    <a:solidFill>
                      <a:srgbClr val="FAFBFC"/>
                    </a:solidFill>
                  </a:tcPr>
                </a:tc>
              </a:tr>
            </a:tbl>
          </a:graphicData>
        </a:graphic>
      </p:graphicFrame>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Recommendation</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Enable FP8 quantization and prefix caching this week — validate accuracy on customer evals first</a:t>
            </a:r>
          </a:p>
          <a:p>
            <a:pPr algn="l">
              <a:spcAft>
                <a:spcPts val="800"/>
              </a:spcAft>
            </a:pPr>
            <a:r>
              <a:rPr sz="2000">
                <a:solidFill>
                  <a:srgbClr val="1F2A37"/>
                </a:solidFill>
                <a:latin typeface="Calibri"/>
              </a:rPr>
              <a:t>•  Evaluate tensor parallelism (TP=2) for TPOT — 14% gain at single-user load; rerun under concurrency before adopting in prod</a:t>
            </a:r>
          </a:p>
          <a:p>
            <a:pPr algn="l">
              <a:spcAft>
                <a:spcPts val="800"/>
              </a:spcAft>
            </a:pPr>
            <a:r>
              <a:rPr sz="2000">
                <a:solidFill>
                  <a:srgbClr val="1F2A37"/>
                </a:solidFill>
                <a:latin typeface="Calibri"/>
              </a:rPr>
              <a:t>•  Use continuous batching only for throughput-mode workloads — not chat — per-request TPOT degrades 4× by B=32</a:t>
            </a:r>
          </a:p>
          <a:p>
            <a:pPr algn="l">
              <a:spcAft>
                <a:spcPts val="800"/>
              </a:spcAft>
            </a:pPr>
            <a:r>
              <a:rPr sz="2000">
                <a:solidFill>
                  <a:srgbClr val="1F2A37"/>
                </a:solidFill>
                <a:latin typeface="Calibri"/>
              </a:rPr>
              <a:t>•  Re-baseline whenever the model, vLLM version, or hardware changes</a:t>
            </a:r>
          </a:p>
        </p:txBody>
      </p:sp>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828800"/>
            <a:ext cx="7315200" cy="1645920"/>
          </a:xfrm>
          <a:prstGeom prst="rect">
            <a:avLst/>
          </a:prstGeom>
          <a:noFill/>
        </p:spPr>
        <p:txBody>
          <a:bodyPr wrap="square" lIns="0" rIns="0" tIns="0" bIns="0">
            <a:spAutoFit/>
          </a:bodyPr>
          <a:lstStyle/>
          <a:p>
            <a:pPr algn="l"/>
            <a:r>
              <a:rPr sz="9600" b="1" i="0">
                <a:solidFill>
                  <a:srgbClr val="1F2A37"/>
                </a:solidFill>
                <a:latin typeface="Calibri"/>
              </a:rPr>
              <a:t>Q&amp;A</a:t>
            </a:r>
          </a:p>
        </p:txBody>
      </p:sp>
      <p:sp>
        <p:nvSpPr>
          <p:cNvPr id="3" name="Rectangle 2"/>
          <p:cNvSpPr/>
          <p:nvPr/>
        </p:nvSpPr>
        <p:spPr>
          <a:xfrm>
            <a:off x="731520" y="365760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931920"/>
            <a:ext cx="7315200" cy="457200"/>
          </a:xfrm>
          <a:prstGeom prst="rect">
            <a:avLst/>
          </a:prstGeom>
          <a:noFill/>
        </p:spPr>
        <p:txBody>
          <a:bodyPr wrap="square" lIns="0" rIns="0" tIns="0" bIns="0">
            <a:spAutoFit/>
          </a:bodyPr>
          <a:lstStyle/>
          <a:p>
            <a:pPr algn="l"/>
            <a:r>
              <a:rPr sz="2000" b="0" i="0">
                <a:solidFill>
                  <a:srgbClr val="555F6E"/>
                </a:solidFill>
                <a:latin typeface="Calibri"/>
              </a:rPr>
              <a:t>15 minutes — fire away.</a:t>
            </a:r>
          </a:p>
        </p:txBody>
      </p:sp>
      <p:sp>
        <p:nvSpPr>
          <p:cNvPr id="5" name="TextBox 4"/>
          <p:cNvSpPr txBox="1"/>
          <p:nvPr/>
        </p:nvSpPr>
        <p:spPr>
          <a:xfrm>
            <a:off x="8778240" y="1828800"/>
            <a:ext cx="2743200" cy="274320"/>
          </a:xfrm>
          <a:prstGeom prst="rect">
            <a:avLst/>
          </a:prstGeom>
          <a:noFill/>
        </p:spPr>
        <p:txBody>
          <a:bodyPr wrap="square" lIns="0" rIns="0" tIns="0" bIns="0">
            <a:spAutoFit/>
          </a:bodyPr>
          <a:lstStyle/>
          <a:p>
            <a:pPr algn="l"/>
            <a:r>
              <a:rPr sz="1100" b="1" i="0">
                <a:solidFill>
                  <a:srgbClr val="2E66C2"/>
                </a:solidFill>
                <a:latin typeface="Calibri"/>
              </a:rPr>
              <a:t>REPO</a:t>
            </a:r>
          </a:p>
        </p:txBody>
      </p:sp>
      <p:pic>
        <p:nvPicPr>
          <p:cNvPr id="6" name="Picture 5" descr="repo_qr.png"/>
          <p:cNvPicPr>
            <a:picLocks noChangeAspect="1"/>
          </p:cNvPicPr>
          <p:nvPr/>
        </p:nvPicPr>
        <p:blipFill>
          <a:blip r:embed="rId2"/>
          <a:stretch>
            <a:fillRect/>
          </a:stretch>
        </p:blipFill>
        <p:spPr>
          <a:xfrm>
            <a:off x="8778240" y="2194560"/>
            <a:ext cx="2743200" cy="2743200"/>
          </a:xfrm>
          <a:prstGeom prst="rect">
            <a:avLst/>
          </a:prstGeom>
        </p:spPr>
      </p:pic>
      <p:sp>
        <p:nvSpPr>
          <p:cNvPr id="7" name="TextBox 6"/>
          <p:cNvSpPr txBox="1"/>
          <p:nvPr/>
        </p:nvSpPr>
        <p:spPr>
          <a:xfrm>
            <a:off x="8229600" y="5074920"/>
            <a:ext cx="3840480" cy="365760"/>
          </a:xfrm>
          <a:prstGeom prst="rect">
            <a:avLst/>
          </a:prstGeom>
          <a:noFill/>
        </p:spPr>
        <p:txBody>
          <a:bodyPr wrap="square" lIns="0" rIns="0" tIns="0" bIns="0">
            <a:spAutoFit/>
          </a:bodyPr>
          <a:lstStyle/>
          <a:p>
            <a:pPr algn="ctr"/>
            <a:r>
              <a:rPr sz="1100" b="0" i="0">
                <a:solidFill>
                  <a:srgbClr val="555F6E"/>
                </a:solidFill>
                <a:latin typeface="Calibri"/>
              </a:rPr>
              <a:t>github.com/harishvs/moe-inference-optimize</a:t>
            </a:r>
          </a:p>
        </p:txBody>
      </p:sp>
      <p:sp>
        <p:nvSpPr>
          <p:cNvPr id="8" name="TextBox 7"/>
          <p:cNvSpPr txBox="1"/>
          <p:nvPr/>
        </p:nvSpPr>
        <p:spPr>
          <a:xfrm>
            <a:off x="8229600" y="5440680"/>
            <a:ext cx="3840480" cy="365760"/>
          </a:xfrm>
          <a:prstGeom prst="rect">
            <a:avLst/>
          </a:prstGeom>
          <a:noFill/>
        </p:spPr>
        <p:txBody>
          <a:bodyPr wrap="square" lIns="0" rIns="0" tIns="0" bIns="0">
            <a:spAutoFit/>
          </a:bodyPr>
          <a:lstStyle/>
          <a:p>
            <a:pPr algn="ctr"/>
            <a:r>
              <a:rPr sz="1000" b="0" i="1">
                <a:solidFill>
                  <a:srgbClr val="555F6E"/>
                </a:solidFill>
                <a:latin typeface="Calibri"/>
              </a:rPr>
              <a:t>scan to clone the code, results, and this deck</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FP8 quality — standard accuracy benchmarks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p8_accuracy.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Why prefill isn't quadratic in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lop_math.png"/>
          <p:cNvPicPr>
            <a:picLocks noChangeAspect="1"/>
          </p:cNvPicPr>
          <p:nvPr/>
        </p:nvPicPr>
        <p:blipFill>
          <a:blip r:embed="rId2"/>
          <a:stretch>
            <a:fillRect/>
          </a:stretch>
        </p:blipFill>
        <p:spPr>
          <a:xfrm>
            <a:off x="1828800" y="1783080"/>
            <a:ext cx="82296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