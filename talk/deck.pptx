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Numbers are from torch.profiler on Blackwell at L=1024, bf16, single-user (results/profile/baseline_20260516_000526_L1024_seed42/), renormalized to 100% of accounted leaf-kernel GPU time.</a:t>
            </a:r>
          </a:p>
          <a:p/>
          <a:p>
            <a:r>
              <a:t>fused_moe_kernel — the grouped-GEMM kernel that runs the MoE feed-forward — owns 68% of prefill. It's already tuned for tensor cores; vLLM uses flashinfer's fused-MoE path on Blackwell. Attention projection GEMMs (CUTLASS bf16) are second at 18%, with attention math itself (flash_fwd_splitkv) at ~5% and MoE expert dispatch/combine kernels at another ~5%. The router (top-K softmax) is under 0.5% — basically noise.</a:t>
            </a:r>
          </a:p>
          <a:p/>
          <a:p>
            <a:r>
              <a:t>Compared to L4: the relative shape is similar but Blackwell's tensor cores chew through the MoE FFN faster, so its share drops from L4's ~80% to ~68%, and attention projections rise into the visible range. Same conclusion either way: the hot path is FFN, FFN is already tuned, no kernel headroom for a solo developer.</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a:p/>
          <a:p>
            <a:r>
              <a:t>DECODE PROFILE (if asked) — different shape, same dominant kernel. From the decode trace at I=1, O=128 (results/profile/baseline_decode_20260516_000621_I1_O128_seed42/):</a:t>
            </a:r>
          </a:p>
          <a:p/>
          <a:p>
            <a:r>
              <a:t>  fused_moe_kernel:               33%</a:t>
            </a:r>
          </a:p>
          <a:p>
            <a:r>
              <a:t>  CUTLASS bf16 WMMA GEMMs:        14%   (attention QKV/O)</a:t>
            </a:r>
          </a:p>
          <a:p>
            <a:r>
              <a:t>  flash_fwd_splitkv:               4%   (attention math)</a:t>
            </a:r>
          </a:p>
          <a:p>
            <a:r>
              <a:t>  MoE dispatch/combine:            4%</a:t>
            </a:r>
          </a:p>
          <a:p>
            <a:r>
              <a:t>  MoE router (top-K):              2%</a:t>
            </a:r>
          </a:p>
          <a:p>
            <a:r>
              <a:t>  RMS norms:                       3%</a:t>
            </a:r>
          </a:p>
          <a:p>
            <a:r>
              <a:t>  KV cache writes:                 1%</a:t>
            </a:r>
          </a:p>
          <a:p>
            <a:r>
              <a:t>  Other (small ops, 128 steps):  ~40%</a:t>
            </a:r>
          </a:p>
          <a:p/>
          <a:p>
            <a:r>
              <a:t>Why the FFN share drops from 68% → 33%: prefill processes 1024 tokens through one fused MoE call, so the GEMM is large and dominates. Decode does 128 separate forward passes, each on a single token. The FFN kernel call shrinks relative to the per-step overhead (router, dispatch, attention, cache write, norms) that runs on every step regardless of token count.</a:t>
            </a:r>
          </a:p>
          <a:p/>
          <a:p>
            <a:r>
              <a:t>Note the kernel naming: prefill uses cutlass_80_tensorop_bf16 (standard tensor-core GEMM optimized for large batch shapes); decode uses cutlass_80_wmma_tensorop_bf16 (WMMA variant, optimized for the small batch=1 shapes decode produces). Same CUTLASS family, different shape-specialization.</a:t>
            </a:r>
          </a:p>
          <a:p/>
          <a:p>
            <a:r>
              <a:t>Implication for FP8: still helps decode (the 14% projection GEMMs are bandwidth-bound on weight loads), and that's the bigger fraction of decode latency than people expect because the FFN kernel itself shrinks. This is consistent with the TPOT measurements: FP8 cuts ~17%, which is roughly proportional to the bandwidth-bound share of decode.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independent verdict: what does FP8 alone do, with no caching? Same baseline on the left, FP8 (in-process bench) on the right.</a:t>
            </a:r>
          </a:p>
          <a:p/>
          <a:p>
            <a:r>
              <a:t>FP8 wins consistently on TPOT and e2e across the grid. TPOT 1.98–2.43 ms (under 2.5 ms target everywhere). End-to-end 401–501 ms (just barely misses at L=1500 by ~1 ms).</a:t>
            </a:r>
          </a:p>
          <a:p/>
          <a:p>
            <a:r>
              <a:t>FP8 alone partially clears TTFT: passes at L=128 (7.1 ms) and L=512 (9.1 ms), but misses at L=1024 (16.6 ms) and L=1500 (17.5 ms) — over the 15 ms target.</a:t>
            </a:r>
          </a:p>
          <a:p/>
          <a:p>
            <a:r>
              <a:t>Conclusion: FP8 alone is necessary but not sufficient at long prompts. The next slide shows what prefix caching alone does — and after that, the combo that clears every cell.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independent verdict: prefix caching, no FP8. Same baseline on the left, prefix caching alone on the right (measured via HTTP harness, ~20 ms overhead reconciled per L).</a:t>
            </a:r>
          </a:p>
          <a:p/>
          <a:p>
            <a:r>
              <a:t>TTFT cleanly passes at every L: 9.7–11.4 ms (under 15 ms target). Caching skips the prefill compute entirely — TTFT depends on the cache-miss suffix only, not the total prompt length. This is the cleanest visual demonstration of why caching helps.</a:t>
            </a:r>
          </a:p>
          <a:p/>
          <a:p>
            <a:r>
              <a:t>TPOT and e2e: caching doesn't affect decode bandwidth, so TPOT stays at the bf16 baseline values (2.32–2.78 ms). TPOT borderline at L=1024 (2.61 ms — 0.11 ms over) and fails at L=1500 (2.78 ms). End-to-end fails at L=1500 (564 ms).</a:t>
            </a:r>
          </a:p>
          <a:p/>
          <a:p>
            <a:r>
              <a:t>Conclusion: caching is necessary but not sufficient. It fixes TTFT but doesn't help TPOT. FP8 alone does the opposite. Together they clear every cell —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says it directly: ship FP8 + prefix caching this week. That's the single most important sentence in the talk for a panel asking 'what do I do Monday morning?'</a:t>
            </a:r>
          </a:p>
          <a:p/>
          <a:p>
            <a:r>
              <a:t>Two columns of detail under it. DO NOW lists the three concrete things to push to production this week — two flag flips and one validation step. HOLD FOR LATER names the levers we measured but are NOT recommending today, with the trigger condition that would change our mind.</a:t>
            </a:r>
          </a:p>
          <a:p/>
          <a:p>
            <a:r>
              <a:t>The italic line at the bottom is the closer for the VP: both actions are configuration, not architecture. No CapEx, no ops rewrite, no risk profile change beyond the GSM8K accuracy caveat.</a:t>
            </a:r>
          </a:p>
          <a:p/>
          <a:p>
            <a:r>
              <a:t>If the panel pushes for more detail on the levers, slide 16 (trade-offs) has the per-lever risk and mitigation. This slide is the call-to-action; that one is the technical defense.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Reads like the README — actual file tree, file names tell the story.</a:t>
            </a:r>
          </a:p>
          <a:p/>
          <a:p>
            <a:r>
              <a:t>TWO MEASUREMENT PATHS, TWO DIFFERENT JOBS:</a:t>
            </a:r>
          </a:p>
          <a:p/>
          <a:p>
            <a:r>
              <a:t>1) In-process — `vllm bench latency` driven by scripts/benchmark_latency.py and the profile_*.py scripts. The bench tool spins up vLLM in the same Python process, fires synthetic prompts directly through the engine API, and times from inside the process. No HTTP, no network, no scheduler queue. This is what you want when you're measuring the engine itself: TTFT/TPOT for the kernels in isolation, with the tightest variance and no harness overhead. Every number on slides 5, 8, 9 (lever-only rows) comes from this path.</a:t>
            </a:r>
          </a:p>
          <a:p/>
          <a:p>
            <a:r>
              <a:t>2) HTTP harness — scripts/harness/ launches a real `vllm serve` subprocess, waits for the OpenAI-compatible /v1/models endpoint, issues streaming HTTP requests, and times from the client side. Every number on slides 8, 9 (caching combo rows), 10–12, and the appendix batching slide comes from this path. Adds about 20 ms of overhead per request vs the in-process bench — measured and reconciled per input length (verdict slide methodology footnote).</a:t>
            </a:r>
          </a:p>
          <a:p/>
          <a:p>
            <a:r>
              <a:t>WHY WE NEED A HARNESS:</a:t>
            </a:r>
          </a:p>
          <a:p/>
          <a:p>
            <a:r>
              <a:t>Three things the in-process bench can't measure, but the harness can:</a:t>
            </a:r>
          </a:p>
          <a:p/>
          <a:p>
            <a:r>
              <a:t>Prefix caching. The bench fires unrelated random-token prompts with no shared prefix between requests. There's nothing for the cache to hit on. The harness builds a workload of 30 requests that all share a fixed prefix and vary only a 64-token suffix — exactly what a chat app with a shared system prompt looks like. Without this shape, prefix caching can't be measured at all.</a:t>
            </a:r>
          </a:p>
          <a:p/>
          <a:p>
            <a:r>
              <a:t>Concurrent load. The bench runs requests sequentially. The harness drives a configurable number of in-flight requests against the live server, the same way real production traffic hits the engine. That's how we know batch=32 saturates the engine and batch=64 starts queueing.</a:t>
            </a:r>
          </a:p>
          <a:p/>
          <a:p>
            <a:r>
              <a:t>Real serving path. `vllm serve` is what production runs. The in-process bench skips the API layer, the scheduler, the request queue, and the streaming response code. The harness exercises all of that, so the numbers reflect what users will actually feel.</a:t>
            </a:r>
          </a:p>
          <a:p/>
          <a:p>
            <a:r>
              <a:t>REALISTIC PROMPTS — SHAREGPT: bench_batching.py loads real chat prompts from the ShareGPT V3 dataset (huggingface.co/datasets/anon8231489123/ShareGPT_Vicuna_unfiltered) via scripts/harness/datasets.py. Prompts are filtered to a 128–512 token band and pooled so concurrent requests don't accidentally share a prefix (which would let prefix caching merge them and inflate throughput). Synthetic random tokens would still produce numbers, but ShareGPT's distribution of real questions, code snippets, and multi-turn snippets is closer to what production traffic looks like — so when the throughput chart says 'X tok/s at concurrency Y,' that holds for chat-shaped traffic, not just synthetic stress. The pure-decode counterpart (bench_batching_decode.py) keeps prompts synthetic on purpose because it isolates MoE-batching behavior from prefill-mixing.</a:t>
            </a:r>
          </a:p>
          <a:p/>
          <a:p>
            <a:r>
              <a:t>ENGINE-AGNOSTIC: the harness wraps server lifecycle behind an OpenAI-compatible HTTP client. Swap the launcher and the same benchmarks run against TRT-LLM, SGLang, anything with an OpenAI endpoint. Deliberate — when the next model arrives, the harness doesn't have to be rewritten.</a:t>
            </a:r>
          </a:p>
          <a:p/>
          <a:p>
            <a:r>
              <a:t>REPRODUCIBILITY: every measurement → timestamped JSON in results/. talk/numbers.py reads JSON; deck refreshes on rerun. scripts/plots/ regenerates every chart from results/. Seed pinned at 42 — variance across runs is under 1 ms, which is how we trust small deltas as signal, not noise.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'how much KV cache does prefix caching consume?'</a:t>
            </a:r>
          </a:p>
          <a:p/>
          <a:p>
            <a:r>
              <a:t>Each cached prefix token costs 128 KiB on OLMoE bf16: 16 layers × 2 (K and V) × 16 heads × 128 d_head × 2 bytes. That's a fixed per-token cost regardless of how many requests reuse the prefix.</a:t>
            </a:r>
          </a:p>
          <a:p/>
          <a:p>
            <a:r>
              <a:t>The total KV cache budget on g7e.12xlarge — taken from vLLM's startup log at gpu_mem_util=0.85 — is 545,184 tokens (~73 GiB). A 1,436-token prefix (the L=1500 case in the deck) uses 180 MiB, which is 0.26% of the budget. Even at L=1500 the cache is essentially free.</a:t>
            </a:r>
          </a:p>
          <a:p/>
          <a:p>
            <a:r>
              <a:t>Hit rate climbs from 50% at L=128 (where the 64-token suffix is half the prompt) to 95% at L=1500 (where the cached prefix dominates). That's the right shape: caching pays off most when the prefix is long, which is exactly the chat-app workload.</a:t>
            </a:r>
          </a:p>
          <a:p/>
          <a:p>
            <a:r>
              <a:t>Why the gauge reads 0.0%: vLLM's kv_cache_usage_perc gauge is designed to flag near-saturation, and the reporting precision is 1 decimal place. Anything under 1% rounds to 0.0%. We confirmed the cache is actually working via vllm:prompt_tokens_cached_total (jumps by exactly the prefix length on each warm request) and vllm:prefix_cache_hits_total (climbs to a 95% hit rate during reuse). Both counters are visible in /metrics; both confirm the first-principles math.</a:t>
            </a:r>
          </a:p>
          <a:p/>
          <a:p>
            <a:r>
              <a:t>Where memory WOULD become a constraint: if there were 100 distinct long system prompts cached in parallel (multi-tenant), 100 × 180 MiB = 18 GiB ≈ 25% of the budget. Still fine, but worth flagging if the workload changes.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The full walkthrough if asked:</a:t>
            </a:r>
          </a:p>
          <a:p/>
          <a:p>
            <a:r>
              <a:t>FOUR NUMBERS THAT DESCRIBE OLMoE'S SHAPE:</a:t>
            </a:r>
          </a:p>
          <a:p/>
          <a:p>
            <a:r>
              <a:t>d_model = 2048. Each token is represented inside the model as a vector of 2048 numbers. Pick any token in your prompt — right now, inside the model, it's 2048 floats.</a:t>
            </a:r>
          </a:p>
          <a:p/>
          <a:p>
            <a:r>
              <a:t>num_heads = 16, d_head = 128. Attention doesn't do one big computation; it splits the 2048 dimensions into 16 parallel 'heads' of 128 each, so 16 × 128 = 2048. Each head can learn to pay attention to a different kind of thing (one head for grammatical subjects, one for negation, one for names, etc.). Splitting into heads doesn't change the total work — it just parallelizes it across heads that learn different patterns.</a:t>
            </a:r>
          </a:p>
          <a:p/>
          <a:p>
            <a:r>
              <a:t>d_ff ≈ 1024. Each of OLMoE's experts is a small feed-forward network — two matmuls back-to-back with an activation in between. It takes the token's 2048-dimensional representation, projects it into an internal 1024-dimensional space, and projects it back out to 2048. The internal dimension d_ff is how much 'thinking room' each expert has. In OLMoE's MoE design, experts are deliberately narrow (d_ff &lt; d_model) because you're activating 8 of them per token — they're specialists, and each one does less work than a traditional dense feed-forward network would.</a:t>
            </a:r>
          </a:p>
          <a:p/>
          <a:p>
            <a:r>
              <a:t>THE ONE FORMULA: a matrix multiplication of shape A (m × k) · B (k × n) costs about 2 · m · n · k floating-point operations. Every matmul in a transformer fits this shape. If you remember only one formula from this talk, pick this one — you can estimate any model's compute cost on a napkin.</a:t>
            </a:r>
          </a:p>
          <a:p/>
          <a:p>
            <a:r>
              <a:t>COUNT PER LAYER AT N=1024:</a:t>
            </a:r>
          </a:p>
          <a:p/>
          <a:p>
            <a:r>
              <a:t>Attention's expensive piece is the score matrix — each of N tokens takes a dot product with every other token. That's two back-to-back matmuls of shape (N × d_head) · (d_head × N) and its transpose, summed across all 16 heads. Per layer:</a:t>
            </a:r>
          </a:p>
          <a:p>
            <a:r>
              <a:t>  Attention FLOPs = 4 · N² · (num_heads · d_head)</a:t>
            </a:r>
          </a:p>
          <a:p>
            <a:r>
              <a:t>                  = 4 · N² · d_model</a:t>
            </a:r>
          </a:p>
          <a:p>
            <a:r>
              <a:t>                  = 4 · (1024)² · 2048</a:t>
            </a:r>
          </a:p>
          <a:p>
            <a:r>
              <a:t>                  ≈ 8.6 × 10⁹  =  8.6 GFLOPs</a:t>
            </a:r>
          </a:p>
          <a:p/>
          <a:p>
            <a:r>
              <a:t>MoE FFN's expensive piece is a wide matmul per active expert. Each token activates 8 experts; each expert has the 2048 → 1024 → 2048 shape, which is two matmuls. Per token:</a:t>
            </a:r>
          </a:p>
          <a:p>
            <a:r>
              <a:t>  FFN FLOPs per token = 8 experts × 2 matmuls × 2 · d_model · d_ff</a:t>
            </a:r>
          </a:p>
          <a:p>
            <a:r>
              <a:t>                      = 8 × 2 × 2 · 2048 · 1024</a:t>
            </a:r>
          </a:p>
          <a:p>
            <a:r>
              <a:t>                      ≈ 6.7 × 10⁷</a:t>
            </a:r>
          </a:p>
          <a:p>
            <a:r>
              <a:t>Multiply by N tokens in the prefill:</a:t>
            </a:r>
          </a:p>
          <a:p>
            <a:r>
              <a:t>  FFN FLOPs per layer = (6.7 × 10⁷) · N</a:t>
            </a:r>
          </a:p>
          <a:p>
            <a:r>
              <a:t>                      = (6.7 × 10⁷) · 1024</a:t>
            </a:r>
          </a:p>
          <a:p>
            <a:r>
              <a:t>                      ≈ 6.9 × 10¹⁰  =  69 GFLOPs</a:t>
            </a:r>
          </a:p>
          <a:p/>
          <a:p>
            <a:r>
              <a:t>SIDE BY SIDE AT N=1024:</a:t>
            </a:r>
          </a:p>
          <a:p>
            <a:r>
              <a:t>  Attention:  8.6 GFLOPs   (grows as N²)</a:t>
            </a:r>
          </a:p>
          <a:p>
            <a:r>
              <a:t>  MoE FFN:    69  GFLOPs   (grows as N, with a huge coefficient)</a:t>
            </a:r>
          </a:p>
          <a:p/>
          <a:p>
            <a:r>
              <a:t>FFN does 8× more work than attention at this length. Yes, attention is asymptotically worse — its growth rate eventually wins. But look at the starting point: the FFN coefficient is ~8,000 times larger than the attention coefficient. It takes a while for quadratic growth to catch up with a head start that big.</a:t>
            </a:r>
          </a:p>
          <a:p/>
          <a:p>
            <a:r>
              <a:t>CROSSOVER: attention equals FFN when N ≈ 8 · d_ff ≈ 8,000 tokens. Below that, FFN dominates. Above that, attention dominates.</a:t>
            </a:r>
          </a:p>
          <a:p/>
          <a:p>
            <a:r>
              <a:t>WHY THIS MATTERS FOR OLMoE: the model's max context is 4,096 tokens. The crossover is past what the model can process in a single request. For every request this model can serve, prefill is FFN-dominated.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a:p/>
          <a:p>
            <a:r>
              <a:t>PRINCIPLE: Big-O is asymptotic. Coefficients win until you reach the asymptote. For this model at this scale, you're nowhere near the asymptote where N² would dominate.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800" b="1" i="0">
                <a:solidFill>
                  <a:srgbClr val="1F2A37"/>
                </a:solidFill>
                <a:latin typeface="Calibri"/>
              </a:rPr>
              <a:t>Ship the chat assistant</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210685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the expert FFN matmuls, one fused kernel per layer (tensor cores) — owns ~68% of prefill</a:t>
            </a:r>
          </a:p>
          <a:p>
            <a:pPr algn="l">
              <a:spcAft>
                <a:spcPts val="600"/>
              </a:spcAft>
            </a:pPr>
            <a:r>
              <a:rPr sz="1400">
                <a:solidFill>
                  <a:srgbClr val="1F2A37"/>
                </a:solidFill>
                <a:latin typeface="Calibri"/>
              </a:rPr>
              <a:t>•  Attention projection GEMMs are second at ~18%</a:t>
            </a:r>
          </a:p>
          <a:p>
            <a:pPr algn="l">
              <a:spcAft>
                <a:spcPts val="600"/>
              </a:spcAft>
            </a:pPr>
            <a:r>
              <a:rPr sz="1400">
                <a:solidFill>
                  <a:srgbClr val="1F2A37"/>
                </a:solidFill>
                <a:latin typeface="Calibri"/>
              </a:rPr>
              <a:t>•  Hot path is already production-tuned in vLLM — no kernel headroom on the dominant paths</a:t>
            </a:r>
          </a:p>
          <a:p>
            <a:pPr algn="l">
              <a:spcAft>
                <a:spcPts val="600"/>
              </a:spcAft>
            </a:pPr>
            <a:r>
              <a:rPr sz="1400">
                <a:solidFill>
                  <a:srgbClr val="1F2A37"/>
                </a:solidFill>
                <a:latin typeface="Calibri"/>
              </a:rPr>
              <a:t>•  Levers live above the kernels: quantization, caching, batching, parallelism</a:t>
            </a:r>
          </a:p>
          <a:p>
            <a:pPr algn="l">
              <a:spcAft>
                <a:spcPts val="600"/>
              </a:spcAft>
            </a:pPr>
            <a:r>
              <a:rPr sz="1400">
                <a:solidFill>
                  <a:srgbClr val="1F2A37"/>
                </a:solidFill>
                <a:latin typeface="Calibri"/>
              </a:rPr>
              <a:t>•  A custom kernel here would also raise TCO — ongoing maintenance against vLLM and CUDA upgrades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(L=1500)</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alone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7.1</a:t>
                      </a:r>
                    </a:p>
                  </a:txBody>
                  <a:tcPr marL="60000" marR="60000" marT="40000" marB="40000" anchor="ctr">
                    <a:solidFill>
                      <a:srgbClr val="FAFBFC"/>
                    </a:solidFill>
                  </a:tcPr>
                </a:tc>
                <a:tc>
                  <a:txBody>
                    <a:bodyPr/>
                    <a:lstStyle/>
                    <a:p>
                      <a:r>
                        <a:rPr sz="1500" b="0">
                          <a:solidFill>
                            <a:srgbClr val="1F2A37"/>
                          </a:solidFill>
                          <a:latin typeface="Calibri"/>
                        </a:rPr>
                        <a:t>1.98</a:t>
                      </a:r>
                    </a:p>
                  </a:txBody>
                  <a:tcPr marL="60000" marR="60000" marT="40000" marB="40000" anchor="ctr">
                    <a:solidFill>
                      <a:srgbClr val="FAFBFC"/>
                    </a:solidFill>
                  </a:tcPr>
                </a:tc>
                <a:tc>
                  <a:txBody>
                    <a:bodyPr/>
                    <a:lstStyle/>
                    <a:p>
                      <a:r>
                        <a:rPr sz="1500" b="0">
                          <a:solidFill>
                            <a:srgbClr val="1F2A37"/>
                          </a:solidFill>
                          <a:latin typeface="Calibri"/>
                        </a:rPr>
                        <a:t>401</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9.1</a:t>
                      </a:r>
                    </a:p>
                  </a:txBody>
                  <a:tcPr marL="60000" marR="60000" marT="40000" marB="40000" anchor="ctr">
                    <a:solidFill>
                      <a:srgbClr val="FFFFFF"/>
                    </a:solidFill>
                  </a:tcPr>
                </a:tc>
                <a:tc>
                  <a:txBody>
                    <a:bodyPr/>
                    <a:lstStyle/>
                    <a:p>
                      <a:r>
                        <a:rPr sz="1500" b="0">
                          <a:solidFill>
                            <a:srgbClr val="1F2A37"/>
                          </a:solidFill>
                          <a:latin typeface="Calibri"/>
                        </a:rPr>
                        <a:t>2.11</a:t>
                      </a:r>
                    </a:p>
                  </a:txBody>
                  <a:tcPr marL="60000" marR="60000" marT="40000" marB="40000" anchor="ctr">
                    <a:solidFill>
                      <a:srgbClr val="FFFFFF"/>
                    </a:solidFill>
                  </a:tcPr>
                </a:tc>
                <a:tc>
                  <a:txBody>
                    <a:bodyPr/>
                    <a:lstStyle/>
                    <a:p>
                      <a:r>
                        <a:rPr sz="1500" b="0">
                          <a:solidFill>
                            <a:srgbClr val="1F2A37"/>
                          </a:solidFill>
                          <a:latin typeface="Calibri"/>
                        </a:rPr>
                        <a:t>429</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1">
                          <a:solidFill>
                            <a:srgbClr val="C04A2A"/>
                          </a:solidFill>
                          <a:latin typeface="Calibri"/>
                        </a:rPr>
                        <a:t>16.6</a:t>
                      </a:r>
                    </a:p>
                  </a:txBody>
                  <a:tcPr marL="60000" marR="60000" marT="40000" marB="40000" anchor="ctr">
                    <a:solidFill>
                      <a:srgbClr val="FAFBFC"/>
                    </a:solidFill>
                  </a:tcPr>
                </a:tc>
                <a:tc>
                  <a:txBody>
                    <a:bodyPr/>
                    <a:lstStyle/>
                    <a:p>
                      <a:r>
                        <a:rPr sz="1500" b="0">
                          <a:solidFill>
                            <a:srgbClr val="1F2A37"/>
                          </a:solidFill>
                          <a:latin typeface="Calibri"/>
                        </a:rPr>
                        <a:t>2.28</a:t>
                      </a:r>
                    </a:p>
                  </a:txBody>
                  <a:tcPr marL="60000" marR="60000" marT="40000" marB="40000" anchor="ctr">
                    <a:solidFill>
                      <a:srgbClr val="FAFBFC"/>
                    </a:solidFill>
                  </a:tcPr>
                </a:tc>
                <a:tc>
                  <a:txBody>
                    <a:bodyPr/>
                    <a:lstStyle/>
                    <a:p>
                      <a:r>
                        <a:rPr sz="1500" b="0">
                          <a:solidFill>
                            <a:srgbClr val="1F2A37"/>
                          </a:solidFill>
                          <a:latin typeface="Calibri"/>
                        </a:rPr>
                        <a:t>471</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1">
                          <a:solidFill>
                            <a:srgbClr val="C04A2A"/>
                          </a:solidFill>
                          <a:latin typeface="Calibri"/>
                        </a:rPr>
                        <a:t>17.5</a:t>
                      </a:r>
                    </a:p>
                  </a:txBody>
                  <a:tcPr marL="60000" marR="60000" marT="40000" marB="40000" anchor="ctr">
                    <a:solidFill>
                      <a:srgbClr val="FFFFFF"/>
                    </a:solidFill>
                  </a:tcPr>
                </a:tc>
                <a:tc>
                  <a:txBody>
                    <a:bodyPr/>
                    <a:lstStyle/>
                    <a:p>
                      <a:r>
                        <a:rPr sz="1500" b="0">
                          <a:solidFill>
                            <a:srgbClr val="1F2A37"/>
                          </a:solidFill>
                          <a:latin typeface="Calibri"/>
                        </a:rPr>
                        <a:t>2.43</a:t>
                      </a:r>
                    </a:p>
                  </a:txBody>
                  <a:tcPr marL="60000" marR="60000" marT="40000" marB="40000" anchor="ctr">
                    <a:solidFill>
                      <a:srgbClr val="FFFFFF"/>
                    </a:solidFill>
                  </a:tcPr>
                </a:tc>
                <a:tc>
                  <a:txBody>
                    <a:bodyPr/>
                    <a:lstStyle/>
                    <a:p>
                      <a:r>
                        <a:rPr sz="1500" b="1">
                          <a:solidFill>
                            <a:srgbClr val="C04A2A"/>
                          </a:solidFill>
                          <a:latin typeface="Calibri"/>
                        </a:rPr>
                        <a:t>501</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prefix caching alone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9.7</a:t>
                      </a:r>
                    </a:p>
                  </a:txBody>
                  <a:tcPr marL="60000" marR="60000" marT="40000" marB="40000" anchor="ctr">
                    <a:solidFill>
                      <a:srgbClr val="FAFBFC"/>
                    </a:solidFill>
                  </a:tcPr>
                </a:tc>
                <a:tc>
                  <a:txBody>
                    <a:bodyPr/>
                    <a:lstStyle/>
                    <a:p>
                      <a:r>
                        <a:rPr sz="1500" b="0">
                          <a:solidFill>
                            <a:srgbClr val="1F2A37"/>
                          </a:solidFill>
                          <a:latin typeface="Calibri"/>
                        </a:rPr>
                        <a:t>2.32</a:t>
                      </a:r>
                    </a:p>
                  </a:txBody>
                  <a:tcPr marL="60000" marR="60000" marT="40000" marB="40000" anchor="ctr">
                    <a:solidFill>
                      <a:srgbClr val="FAFBFC"/>
                    </a:solidFill>
                  </a:tcPr>
                </a:tc>
                <a:tc>
                  <a:txBody>
                    <a:bodyPr/>
                    <a:lstStyle/>
                    <a:p>
                      <a:r>
                        <a:rPr sz="1500" b="0">
                          <a:solidFill>
                            <a:srgbClr val="1F2A37"/>
                          </a:solidFill>
                          <a:latin typeface="Calibri"/>
                        </a:rPr>
                        <a:t>471</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10.3</a:t>
                      </a:r>
                    </a:p>
                  </a:txBody>
                  <a:tcPr marL="60000" marR="60000" marT="40000" marB="40000" anchor="ctr">
                    <a:solidFill>
                      <a:srgbClr val="FFFFFF"/>
                    </a:solidFill>
                  </a:tcPr>
                </a:tc>
                <a:tc>
                  <a:txBody>
                    <a:bodyPr/>
                    <a:lstStyle/>
                    <a:p>
                      <a:r>
                        <a:rPr sz="1500" b="0">
                          <a:solidFill>
                            <a:srgbClr val="1F2A37"/>
                          </a:solidFill>
                          <a:latin typeface="Calibri"/>
                        </a:rPr>
                        <a:t>2.44</a:t>
                      </a:r>
                    </a:p>
                  </a:txBody>
                  <a:tcPr marL="60000" marR="60000" marT="40000" marB="40000" anchor="ctr">
                    <a:solidFill>
                      <a:srgbClr val="FFFFFF"/>
                    </a:solidFill>
                  </a:tcPr>
                </a:tc>
                <a:tc>
                  <a:txBody>
                    <a:bodyPr/>
                    <a:lstStyle/>
                    <a:p>
                      <a:r>
                        <a:rPr sz="1500" b="0">
                          <a:solidFill>
                            <a:srgbClr val="1F2A37"/>
                          </a:solidFill>
                          <a:latin typeface="Calibri"/>
                        </a:rPr>
                        <a:t>496</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1">
                          <a:solidFill>
                            <a:srgbClr val="C04A2A"/>
                          </a:solidFill>
                          <a:latin typeface="Calibri"/>
                        </a:rPr>
                        <a:t>2.61</a:t>
                      </a:r>
                    </a:p>
                  </a:txBody>
                  <a:tcPr marL="60000" marR="60000" marT="40000" marB="40000" anchor="ctr">
                    <a:solidFill>
                      <a:srgbClr val="FAFBFC"/>
                    </a:solidFill>
                  </a:tcPr>
                </a:tc>
                <a:tc>
                  <a:txBody>
                    <a:bodyPr/>
                    <a:lstStyle/>
                    <a:p>
                      <a:r>
                        <a:rPr sz="1500" b="1">
                          <a:solidFill>
                            <a:srgbClr val="C04A2A"/>
                          </a:solidFill>
                          <a:latin typeface="Calibri"/>
                        </a:rPr>
                        <a:t>531</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11.4</a:t>
                      </a:r>
                    </a:p>
                  </a:txBody>
                  <a:tcPr marL="60000" marR="60000" marT="40000" marB="40000" anchor="ctr">
                    <a:solidFill>
                      <a:srgbClr val="FFFFFF"/>
                    </a:solidFill>
                  </a:tcPr>
                </a:tc>
                <a:tc>
                  <a:txBody>
                    <a:bodyPr/>
                    <a:lstStyle/>
                    <a:p>
                      <a:r>
                        <a:rPr sz="1500" b="1">
                          <a:solidFill>
                            <a:srgbClr val="C04A2A"/>
                          </a:solidFill>
                          <a:latin typeface="Calibri"/>
                        </a:rPr>
                        <a:t>2.78</a:t>
                      </a:r>
                    </a:p>
                  </a:txBody>
                  <a:tcPr marL="60000" marR="60000" marT="40000" marB="40000" anchor="ctr">
                    <a:solidFill>
                      <a:srgbClr val="FFFFFF"/>
                    </a:solidFill>
                  </a:tcPr>
                </a:tc>
                <a:tc>
                  <a:txBody>
                    <a:bodyPr/>
                    <a:lstStyle/>
                    <a:p>
                      <a:r>
                        <a:rPr sz="1500" b="1">
                          <a:solidFill>
                            <a:srgbClr val="C04A2A"/>
                          </a:solidFill>
                          <a:latin typeface="Calibri"/>
                        </a:rPr>
                        <a:t>564</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8686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Ship FP8 + prefix caching this week</a:t>
            </a:r>
          </a:p>
        </p:txBody>
      </p:sp>
      <p:sp>
        <p:nvSpPr>
          <p:cNvPr id="6" name="TextBox 5"/>
          <p:cNvSpPr txBox="1"/>
          <p:nvPr/>
        </p:nvSpPr>
        <p:spPr>
          <a:xfrm>
            <a:off x="548640" y="2834640"/>
            <a:ext cx="5486400" cy="274320"/>
          </a:xfrm>
          <a:prstGeom prst="rect">
            <a:avLst/>
          </a:prstGeom>
          <a:noFill/>
        </p:spPr>
        <p:txBody>
          <a:bodyPr wrap="square" lIns="0" rIns="0" tIns="0" bIns="0">
            <a:spAutoFit/>
          </a:bodyPr>
          <a:lstStyle/>
          <a:p>
            <a:pPr algn="l"/>
            <a:r>
              <a:rPr sz="1100" b="1" i="0">
                <a:solidFill>
                  <a:srgbClr val="2E66C2"/>
                </a:solidFill>
                <a:latin typeface="Calibri"/>
              </a:rPr>
              <a:t>DO NOW</a:t>
            </a:r>
          </a:p>
        </p:txBody>
      </p:sp>
      <p:sp>
        <p:nvSpPr>
          <p:cNvPr id="7" name="TextBox 6"/>
          <p:cNvSpPr txBox="1"/>
          <p:nvPr/>
        </p:nvSpPr>
        <p:spPr>
          <a:xfrm>
            <a:off x="548640" y="3154680"/>
            <a:ext cx="5486400" cy="2194560"/>
          </a:xfrm>
          <a:prstGeom prst="rect">
            <a:avLst/>
          </a:prstGeom>
          <a:noFill/>
        </p:spPr>
        <p:txBody>
          <a:bodyPr wrap="square" lIns="0" rIns="0" tIns="0" bIns="0">
            <a:spAutoFit/>
          </a:bodyPr>
          <a:lstStyle/>
          <a:p>
            <a:pPr algn="l">
              <a:spcAft>
                <a:spcPts val="800"/>
              </a:spcAft>
            </a:pPr>
            <a:r>
              <a:rPr sz="1400">
                <a:solidFill>
                  <a:srgbClr val="1F2A37"/>
                </a:solidFill>
                <a:latin typeface="Calibri"/>
              </a:rPr>
              <a:t>•  Turn on FP8 quantization (one flag, --quantization fp8)</a:t>
            </a:r>
          </a:p>
          <a:p>
            <a:pPr algn="l">
              <a:spcAft>
                <a:spcPts val="800"/>
              </a:spcAft>
            </a:pPr>
            <a:r>
              <a:rPr sz="1400">
                <a:solidFill>
                  <a:srgbClr val="1F2A37"/>
                </a:solidFill>
                <a:latin typeface="Calibri"/>
              </a:rPr>
              <a:t>•  Turn on prefix caching (--enable-prefix-caching)</a:t>
            </a:r>
          </a:p>
          <a:p>
            <a:pPr algn="l">
              <a:spcAft>
                <a:spcPts val="800"/>
              </a:spcAft>
            </a:pPr>
            <a:r>
              <a:rPr sz="1400">
                <a:solidFill>
                  <a:srgbClr val="1F2A37"/>
                </a:solidFill>
                <a:latin typeface="Calibri"/>
              </a:rPr>
              <a:t>•  Validate GSM8K-style eval on the customer's prompts before flipping in prod</a:t>
            </a:r>
          </a:p>
        </p:txBody>
      </p:sp>
      <p:sp>
        <p:nvSpPr>
          <p:cNvPr id="8" name="TextBox 7"/>
          <p:cNvSpPr txBox="1"/>
          <p:nvPr/>
        </p:nvSpPr>
        <p:spPr>
          <a:xfrm>
            <a:off x="6400800" y="2834640"/>
            <a:ext cx="5486400" cy="274320"/>
          </a:xfrm>
          <a:prstGeom prst="rect">
            <a:avLst/>
          </a:prstGeom>
          <a:noFill/>
        </p:spPr>
        <p:txBody>
          <a:bodyPr wrap="square" lIns="0" rIns="0" tIns="0" bIns="0">
            <a:spAutoFit/>
          </a:bodyPr>
          <a:lstStyle/>
          <a:p>
            <a:pPr algn="l"/>
            <a:r>
              <a:rPr sz="1100" b="1" i="0">
                <a:solidFill>
                  <a:srgbClr val="2E66C2"/>
                </a:solidFill>
                <a:latin typeface="Calibri"/>
              </a:rPr>
              <a:t>HOLD FOR LATER</a:t>
            </a:r>
          </a:p>
        </p:txBody>
      </p:sp>
      <p:sp>
        <p:nvSpPr>
          <p:cNvPr id="9" name="TextBox 8"/>
          <p:cNvSpPr txBox="1"/>
          <p:nvPr/>
        </p:nvSpPr>
        <p:spPr>
          <a:xfrm>
            <a:off x="6400800" y="3154680"/>
            <a:ext cx="5486400" cy="2194560"/>
          </a:xfrm>
          <a:prstGeom prst="rect">
            <a:avLst/>
          </a:prstGeom>
          <a:noFill/>
        </p:spPr>
        <p:txBody>
          <a:bodyPr wrap="square" lIns="0" rIns="0" tIns="0" bIns="0">
            <a:spAutoFit/>
          </a:bodyPr>
          <a:lstStyle/>
          <a:p>
            <a:pPr algn="l">
              <a:spcAft>
                <a:spcPts val="800"/>
              </a:spcAft>
            </a:pPr>
            <a:r>
              <a:rPr sz="1400">
                <a:solidFill>
                  <a:srgbClr val="1F2A37"/>
                </a:solidFill>
                <a:latin typeface="Calibri"/>
              </a:rPr>
              <a:t>•  Tensor parallel (TP=2) — only if TPOT becomes the bottleneck</a:t>
            </a:r>
          </a:p>
          <a:p>
            <a:pPr algn="l">
              <a:spcAft>
                <a:spcPts val="800"/>
              </a:spcAft>
            </a:pPr>
            <a:r>
              <a:rPr sz="1400">
                <a:solidFill>
                  <a:srgbClr val="1F2A37"/>
                </a:solidFill>
                <a:latin typeface="Calibri"/>
              </a:rPr>
              <a:t>•  Continuous batching — only for throughput-mode workloads, not chat</a:t>
            </a:r>
          </a:p>
          <a:p>
            <a:pPr algn="l">
              <a:spcAft>
                <a:spcPts val="800"/>
              </a:spcAft>
            </a:pPr>
            <a:r>
              <a:rPr sz="1400">
                <a:solidFill>
                  <a:srgbClr val="1F2A37"/>
                </a:solidFill>
                <a:latin typeface="Calibri"/>
              </a:rPr>
              <a:t>•  Re-baseline when the model, vLLM, or hardware changes</a:t>
            </a:r>
          </a:p>
        </p:txBody>
      </p:sp>
      <p:sp>
        <p:nvSpPr>
          <p:cNvPr id="10" name="TextBox 9"/>
          <p:cNvSpPr txBox="1"/>
          <p:nvPr/>
        </p:nvSpPr>
        <p:spPr>
          <a:xfrm>
            <a:off x="548640" y="5623560"/>
            <a:ext cx="11155680" cy="457200"/>
          </a:xfrm>
          <a:prstGeom prst="rect">
            <a:avLst/>
          </a:prstGeom>
          <a:noFill/>
        </p:spPr>
        <p:txBody>
          <a:bodyPr wrap="square" lIns="0" rIns="0" tIns="0" bIns="0">
            <a:spAutoFit/>
          </a:bodyPr>
          <a:lstStyle/>
          <a:p>
            <a:pPr algn="l"/>
            <a:r>
              <a:rPr sz="1200" b="0" i="1">
                <a:solidFill>
                  <a:srgbClr val="555F6E"/>
                </a:solidFill>
                <a:latin typeface="Calibri"/>
              </a:rPr>
              <a:t>Both Do-Now levers are config flags — no new hardware, no model retraining, no ops changes.</a:t>
            </a:r>
          </a:p>
        </p:txBody>
      </p:sp>
      <p:sp>
        <p:nvSpPr>
          <p:cNvPr id="11" name="TextBox 10"/>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2" name="TextBox 11"/>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30% TTFT cut on shared prompts (L=1500)</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91640"/>
            <a:ext cx="10972800" cy="274320"/>
          </a:xfrm>
          <a:prstGeom prst="rect">
            <a:avLst/>
          </a:prstGeom>
          <a:noFill/>
        </p:spPr>
        <p:txBody>
          <a:bodyPr wrap="square" lIns="0" rIns="0" tIns="0" bIns="0">
            <a:spAutoFit/>
          </a:bodyPr>
          <a:lstStyle/>
          <a:p>
            <a:pPr algn="l"/>
            <a:r>
              <a:rPr sz="1400" b="1" i="0">
                <a:solidFill>
                  <a:srgbClr val="2E66C2"/>
                </a:solidFill>
                <a:latin typeface="Calibri"/>
              </a:rPr>
              <a:t>scripts/</a:t>
            </a:r>
          </a:p>
        </p:txBody>
      </p:sp>
      <p:sp>
        <p:nvSpPr>
          <p:cNvPr id="6" name="TextBox 5"/>
          <p:cNvSpPr txBox="1"/>
          <p:nvPr/>
        </p:nvSpPr>
        <p:spPr>
          <a:xfrm>
            <a:off x="457200" y="2057400"/>
            <a:ext cx="11430000" cy="2743200"/>
          </a:xfrm>
          <a:prstGeom prst="rect">
            <a:avLst/>
          </a:prstGeom>
          <a:noFill/>
        </p:spPr>
        <p:txBody>
          <a:bodyPr wrap="none" lIns="0" rIns="0" tIns="0" bIns="0">
            <a:spAutoFit/>
          </a:bodyPr>
          <a:lstStyle/>
          <a:p>
            <a:pPr algn="l">
              <a:spcAft>
                <a:spcPts val="0"/>
              </a:spcAft>
            </a:pPr>
            <a:r>
              <a:rPr sz="1300">
                <a:solidFill>
                  <a:srgbClr val="1F2A37"/>
                </a:solidFill>
                <a:latin typeface="Courier New"/>
              </a:rPr>
              <a:t>  smoke_test.py              </a:t>
            </a:r>
            <a:r>
              <a:rPr sz="1300">
                <a:solidFill>
                  <a:srgbClr val="555F6E"/>
                </a:solidFill>
                <a:latin typeface="Courier New"/>
              </a:rPr>
              <a:t># sanity check before benchmarking — loads OLMoE, generates one token</a:t>
            </a:r>
          </a:p>
          <a:p>
            <a:pPr algn="l">
              <a:spcAft>
                <a:spcPts val="0"/>
              </a:spcAft>
            </a:pPr>
            <a:r>
              <a:rPr sz="1300">
                <a:solidFill>
                  <a:srgbClr val="1F2A37"/>
                </a:solidFill>
                <a:latin typeface="Courier New"/>
              </a:rPr>
              <a:t>  benchmark_latency.py       </a:t>
            </a:r>
            <a:r>
              <a:rPr sz="1300">
                <a:solidFill>
                  <a:srgbClr val="555F6E"/>
                </a:solidFill>
                <a:latin typeface="Courier New"/>
              </a:rPr>
              <a:t># direct-from-engine TTFT/TPOT (no HTTP overhead) — bf16, --fp8, --tp 2</a:t>
            </a:r>
          </a:p>
          <a:p>
            <a:pPr algn="l">
              <a:spcAft>
                <a:spcPts val="0"/>
              </a:spcAft>
            </a:pPr>
            <a:r>
              <a:rPr sz="1300">
                <a:solidFill>
                  <a:srgbClr val="1F2A37"/>
                </a:solidFill>
                <a:latin typeface="Courier New"/>
              </a:rPr>
              <a:t>  profile_prefill.py         </a:t>
            </a:r>
            <a:r>
              <a:rPr sz="1300">
                <a:solidFill>
                  <a:srgbClr val="555F6E"/>
                </a:solidFill>
                <a:latin typeface="Courier New"/>
              </a:rPr>
              <a:t># torch.profiler trace at L=1024 — kernel breakdown</a:t>
            </a:r>
          </a:p>
          <a:p>
            <a:pPr algn="l">
              <a:spcAft>
                <a:spcPts val="0"/>
              </a:spcAft>
            </a:pPr>
            <a:r>
              <a:rPr sz="1300">
                <a:solidFill>
                  <a:srgbClr val="1F2A37"/>
                </a:solidFill>
                <a:latin typeface="Courier New"/>
              </a:rPr>
              <a:t>  profile_decode.py          </a:t>
            </a:r>
            <a:r>
              <a:rPr sz="1300">
                <a:solidFill>
                  <a:srgbClr val="555F6E"/>
                </a:solidFill>
                <a:latin typeface="Courier New"/>
              </a:rPr>
              <a:t># torch.profiler trace at I=1, O=128 — decode kernels</a:t>
            </a:r>
          </a:p>
          <a:p>
            <a:pPr algn="l">
              <a:spcAft>
                <a:spcPts val="0"/>
              </a:spcAft>
            </a:pPr>
            <a:r>
              <a:rPr sz="1300">
                <a:solidFill>
                  <a:srgbClr val="1F2A37"/>
                </a:solidFill>
                <a:latin typeface="Courier New"/>
              </a:rPr>
              <a:t>  bench_prefix_caching.py    </a:t>
            </a:r>
            <a:r>
              <a:rPr sz="1300">
                <a:solidFill>
                  <a:srgbClr val="555F6E"/>
                </a:solidFill>
                <a:latin typeface="Courier New"/>
              </a:rPr>
              <a:t># caching via HTTP harness (bf16 / fp8 / tp2 combos)</a:t>
            </a:r>
          </a:p>
          <a:p>
            <a:pPr algn="l">
              <a:spcAft>
                <a:spcPts val="0"/>
              </a:spcAft>
            </a:pPr>
            <a:r>
              <a:rPr sz="1300">
                <a:solidFill>
                  <a:srgbClr val="1F2A37"/>
                </a:solidFill>
                <a:latin typeface="Courier New"/>
              </a:rPr>
              <a:t>  bench_batching_decode.py   </a:t>
            </a:r>
            <a:r>
              <a:rPr sz="1300">
                <a:solidFill>
                  <a:srgbClr val="555F6E"/>
                </a:solidFill>
                <a:latin typeface="Courier New"/>
              </a:rPr>
              <a:t># tokens/sec and per-user TPOT across concurrency 1 → 128</a:t>
            </a:r>
          </a:p>
          <a:p>
            <a:pPr algn="l">
              <a:spcAft>
                <a:spcPts val="0"/>
              </a:spcAft>
            </a:pPr>
            <a:r>
              <a:rPr sz="1300">
                <a:solidFill>
                  <a:srgbClr val="1F2A37"/>
                </a:solidFill>
                <a:latin typeface="Courier New"/>
              </a:rPr>
              <a:t>  eval_suite.py              </a:t>
            </a:r>
            <a:r>
              <a:rPr sz="1300">
                <a:solidFill>
                  <a:srgbClr val="555F6E"/>
                </a:solidFill>
                <a:latin typeface="Courier New"/>
              </a:rPr>
              <a:t># lm-evaluation-harness — FP8 accuracy on MMLU / GSM8K / ...</a:t>
            </a:r>
          </a:p>
          <a:p>
            <a:pPr algn="l">
              <a:spcAft>
                <a:spcPts val="0"/>
              </a:spcAft>
            </a:pPr>
            <a:r>
              <a:rPr sz="1300">
                <a:solidFill>
                  <a:srgbClr val="1F2A37"/>
                </a:solidFill>
                <a:latin typeface="Courier New"/>
              </a:rPr>
              <a:t>  harness/                   </a:t>
            </a:r>
            <a:r>
              <a:rPr sz="1300">
                <a:solidFill>
                  <a:srgbClr val="555F6E"/>
                </a:solidFill>
                <a:latin typeface="Courier New"/>
              </a:rPr>
              <a:t># engine-agnostic vLLM-server launcher + HTTP client</a:t>
            </a:r>
          </a:p>
        </p:txBody>
      </p:sp>
      <p:sp>
        <p:nvSpPr>
          <p:cNvPr id="7" name="TextBox 6"/>
          <p:cNvSpPr txBox="1"/>
          <p:nvPr/>
        </p:nvSpPr>
        <p:spPr>
          <a:xfrm>
            <a:off x="457200" y="4937760"/>
            <a:ext cx="10972800" cy="274320"/>
          </a:xfrm>
          <a:prstGeom prst="rect">
            <a:avLst/>
          </a:prstGeom>
          <a:noFill/>
        </p:spPr>
        <p:txBody>
          <a:bodyPr wrap="square" lIns="0" rIns="0" tIns="0" bIns="0">
            <a:spAutoFit/>
          </a:bodyPr>
          <a:lstStyle/>
          <a:p>
            <a:pPr algn="l"/>
            <a:r>
              <a:rPr sz="1400" b="1" i="0">
                <a:solidFill>
                  <a:srgbClr val="2E66C2"/>
                </a:solidFill>
                <a:latin typeface="Calibri"/>
              </a:rPr>
              <a:t>results/</a:t>
            </a:r>
          </a:p>
        </p:txBody>
      </p:sp>
      <p:sp>
        <p:nvSpPr>
          <p:cNvPr id="8" name="TextBox 7"/>
          <p:cNvSpPr txBox="1"/>
          <p:nvPr/>
        </p:nvSpPr>
        <p:spPr>
          <a:xfrm>
            <a:off x="457200" y="5303520"/>
            <a:ext cx="11430000" cy="1005840"/>
          </a:xfrm>
          <a:prstGeom prst="rect">
            <a:avLst/>
          </a:prstGeom>
          <a:noFill/>
        </p:spPr>
        <p:txBody>
          <a:bodyPr wrap="none" lIns="0" rIns="0" tIns="0" bIns="0">
            <a:spAutoFit/>
          </a:bodyPr>
          <a:lstStyle/>
          <a:p>
            <a:pPr algn="l">
              <a:spcAft>
                <a:spcPts val="0"/>
              </a:spcAft>
            </a:pPr>
            <a:r>
              <a:rPr sz="1300">
                <a:solidFill>
                  <a:srgbClr val="1F2A37"/>
                </a:solidFill>
                <a:latin typeface="Courier New"/>
              </a:rPr>
              <a:t>  baseline_*.json            </a:t>
            </a:r>
            <a:r>
              <a:rPr sz="1300">
                <a:solidFill>
                  <a:srgbClr val="555F6E"/>
                </a:solidFill>
                <a:latin typeface="Courier New"/>
              </a:rPr>
              <a:t># bf16 / FP8 / TP=2 latency cells (one JSON per L × O)</a:t>
            </a:r>
          </a:p>
          <a:p>
            <a:pPr algn="l">
              <a:spcAft>
                <a:spcPts val="0"/>
              </a:spcAft>
            </a:pPr>
            <a:r>
              <a:rPr sz="1300">
                <a:solidFill>
                  <a:srgbClr val="1F2A37"/>
                </a:solidFill>
                <a:latin typeface="Courier New"/>
              </a:rPr>
              <a:t>  harness/                   </a:t>
            </a:r>
            <a:r>
              <a:rPr sz="1300">
                <a:solidFill>
                  <a:srgbClr val="555F6E"/>
                </a:solidFill>
                <a:latin typeface="Courier New"/>
              </a:rPr>
              <a:t># HTTP-harness outputs (prefix caching, batching)</a:t>
            </a:r>
          </a:p>
          <a:p>
            <a:pPr algn="l">
              <a:spcAft>
                <a:spcPts val="0"/>
              </a:spcAft>
            </a:pPr>
            <a:r>
              <a:rPr sz="1300">
                <a:solidFill>
                  <a:srgbClr val="1F2A37"/>
                </a:solidFill>
                <a:latin typeface="Courier New"/>
              </a:rPr>
              <a:t>  profile/                   </a:t>
            </a:r>
            <a:r>
              <a:rPr sz="1300">
                <a:solidFill>
                  <a:srgbClr val="555F6E"/>
                </a:solidFill>
                <a:latin typeface="Courier New"/>
              </a:rPr>
              <a:t># torch.profiler traces + per-kernel summaries</a:t>
            </a:r>
          </a:p>
          <a:p>
            <a:pPr algn="l">
              <a:spcAft>
                <a:spcPts val="0"/>
              </a:spcAft>
            </a:pPr>
            <a:r>
              <a:rPr sz="1300">
                <a:solidFill>
                  <a:srgbClr val="1F2A37"/>
                </a:solidFill>
                <a:latin typeface="Courier New"/>
              </a:rPr>
              <a:t>  eval/                      </a:t>
            </a:r>
            <a:r>
              <a:rPr sz="1300">
                <a:solidFill>
                  <a:srgbClr val="555F6E"/>
                </a:solidFill>
                <a:latin typeface="Courier New"/>
              </a:rPr>
              <a:t># lm-evaluation-harness raw outputs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0"/>
            <a:ext cx="10972800" cy="2011680"/>
          </a:xfrm>
          <a:prstGeom prst="rect">
            <a:avLst/>
          </a:prstGeom>
          <a:noFill/>
        </p:spPr>
        <p:txBody>
          <a:bodyPr wrap="square" lIns="0" rIns="0" tIns="0" bIns="0">
            <a:spAutoFit/>
          </a:bodyPr>
          <a:lstStyle/>
          <a:p>
            <a:pPr algn="ctr"/>
            <a:r>
              <a:rPr sz="14000" b="1" i="0">
                <a:solidFill>
                  <a:srgbClr val="1F2A37"/>
                </a:solidFill>
                <a:latin typeface="Calibri"/>
              </a:rPr>
              <a:t>Q&amp;A</a:t>
            </a:r>
          </a:p>
        </p:txBody>
      </p:sp>
      <p:sp>
        <p:nvSpPr>
          <p:cNvPr id="3" name="Rectangle 2"/>
          <p:cNvSpPr/>
          <p:nvPr/>
        </p:nvSpPr>
        <p:spPr>
          <a:xfrm>
            <a:off x="5120640" y="47548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5" name="TextBox 4"/>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Prefix caching — KV cache footprint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828800"/>
          <a:ext cx="11247120" cy="2377440"/>
        </p:xfrm>
        <a:graphic>
          <a:graphicData uri="http://schemas.openxmlformats.org/drawingml/2006/table">
            <a:tbl>
              <a:tblPr firstRow="1" bandRow="1">
                <a:tableStyleId>{5C22544A-7EE6-4342-B048-85BDC9FD1C3A}</a:tableStyleId>
              </a:tblPr>
              <a:tblGrid>
                <a:gridCol w="2011680"/>
                <a:gridCol w="2560320"/>
                <a:gridCol w="2194560"/>
                <a:gridCol w="2103120"/>
                <a:gridCol w="2377440"/>
              </a:tblGrid>
              <a:tr h="475488">
                <a:tc>
                  <a:txBody>
                    <a:bodyPr/>
                    <a:lstStyle/>
                    <a:p>
                      <a:r>
                        <a:rPr sz="1400" b="1">
                          <a:solidFill>
                            <a:srgbClr val="555F6E"/>
                          </a:solidFill>
                          <a:latin typeface="Calibri"/>
                        </a:rPr>
                        <a:t>Input length</a:t>
                      </a:r>
                    </a:p>
                  </a:txBody>
                  <a:tcPr marL="60000" marR="60000" marT="40000" marB="40000" anchor="ctr">
                    <a:solidFill>
                      <a:srgbClr val="F2F4F7"/>
                    </a:solidFill>
                  </a:tcPr>
                </a:tc>
                <a:tc>
                  <a:txBody>
                    <a:bodyPr/>
                    <a:lstStyle/>
                    <a:p>
                      <a:r>
                        <a:rPr sz="1400" b="1">
                          <a:solidFill>
                            <a:srgbClr val="555F6E"/>
                          </a:solidFill>
                          <a:latin typeface="Calibri"/>
                        </a:rPr>
                        <a:t>Prefix tokens cached</a:t>
                      </a:r>
                    </a:p>
                  </a:txBody>
                  <a:tcPr marL="60000" marR="60000" marT="40000" marB="40000" anchor="ctr">
                    <a:solidFill>
                      <a:srgbClr val="F2F4F7"/>
                    </a:solidFill>
                  </a:tcPr>
                </a:tc>
                <a:tc>
                  <a:txBody>
                    <a:bodyPr/>
                    <a:lstStyle/>
                    <a:p>
                      <a:r>
                        <a:rPr sz="1400" b="1">
                          <a:solidFill>
                            <a:srgbClr val="555F6E"/>
                          </a:solidFill>
                          <a:latin typeface="Calibri"/>
                        </a:rPr>
                        <a:t>KV cache used</a:t>
                      </a:r>
                    </a:p>
                  </a:txBody>
                  <a:tcPr marL="60000" marR="60000" marT="40000" marB="40000" anchor="ctr">
                    <a:solidFill>
                      <a:srgbClr val="F2F4F7"/>
                    </a:solidFill>
                  </a:tcPr>
                </a:tc>
                <a:tc>
                  <a:txBody>
                    <a:bodyPr/>
                    <a:lstStyle/>
                    <a:p>
                      <a:r>
                        <a:rPr sz="1400" b="1">
                          <a:solidFill>
                            <a:srgbClr val="555F6E"/>
                          </a:solidFill>
                          <a:latin typeface="Calibri"/>
                        </a:rPr>
                        <a:t>% of budget</a:t>
                      </a:r>
                    </a:p>
                  </a:txBody>
                  <a:tcPr marL="60000" marR="60000" marT="40000" marB="40000" anchor="ctr">
                    <a:solidFill>
                      <a:srgbClr val="F2F4F7"/>
                    </a:solidFill>
                  </a:tcPr>
                </a:tc>
                <a:tc>
                  <a:txBody>
                    <a:bodyPr/>
                    <a:lstStyle/>
                    <a:p>
                      <a:r>
                        <a:rPr sz="1400" b="1">
                          <a:solidFill>
                            <a:srgbClr val="555F6E"/>
                          </a:solidFill>
                          <a:latin typeface="Calibri"/>
                        </a:rPr>
                        <a:t>Cache hit rate</a:t>
                      </a:r>
                    </a:p>
                  </a:txBody>
                  <a:tcPr marL="60000" marR="60000" marT="40000" marB="40000" anchor="ctr">
                    <a:solidFill>
                      <a:srgbClr val="F2F4F7"/>
                    </a:solidFill>
                  </a:tcPr>
                </a:tc>
              </a:tr>
              <a:tr h="475488">
                <a:tc>
                  <a:txBody>
                    <a:bodyPr/>
                    <a:lstStyle/>
                    <a:p>
                      <a:r>
                        <a:rPr sz="1400" b="0">
                          <a:solidFill>
                            <a:srgbClr val="1F2A37"/>
                          </a:solidFill>
                          <a:latin typeface="Calibri"/>
                        </a:rPr>
                        <a:t>128</a:t>
                      </a:r>
                    </a:p>
                  </a:txBody>
                  <a:tcPr marL="60000" marR="60000" marT="40000" marB="40000" anchor="ctr">
                    <a:solidFill>
                      <a:srgbClr val="FFFFFF"/>
                    </a:solidFill>
                  </a:tcPr>
                </a:tc>
                <a:tc>
                  <a:txBody>
                    <a:bodyPr/>
                    <a:lstStyle/>
                    <a:p>
                      <a:r>
                        <a:rPr sz="1400" b="0">
                          <a:solidFill>
                            <a:srgbClr val="1F2A37"/>
                          </a:solidFill>
                          <a:latin typeface="Calibri"/>
                        </a:rPr>
                        <a:t>64</a:t>
                      </a:r>
                    </a:p>
                  </a:txBody>
                  <a:tcPr marL="60000" marR="60000" marT="40000" marB="40000" anchor="ctr">
                    <a:solidFill>
                      <a:srgbClr val="FFFFFF"/>
                    </a:solidFill>
                  </a:tcPr>
                </a:tc>
                <a:tc>
                  <a:txBody>
                    <a:bodyPr/>
                    <a:lstStyle/>
                    <a:p>
                      <a:r>
                        <a:rPr sz="1400" b="0">
                          <a:solidFill>
                            <a:srgbClr val="1F2A37"/>
                          </a:solidFill>
                          <a:latin typeface="Calibri"/>
                        </a:rPr>
                        <a:t>8 MiB</a:t>
                      </a:r>
                    </a:p>
                  </a:txBody>
                  <a:tcPr marL="60000" marR="60000" marT="40000" marB="40000" anchor="ctr">
                    <a:solidFill>
                      <a:srgbClr val="FFFFFF"/>
                    </a:solidFill>
                  </a:tcPr>
                </a:tc>
                <a:tc>
                  <a:txBody>
                    <a:bodyPr/>
                    <a:lstStyle/>
                    <a:p>
                      <a:r>
                        <a:rPr sz="1400" b="0">
                          <a:solidFill>
                            <a:srgbClr val="1F2A37"/>
                          </a:solidFill>
                          <a:latin typeface="Calibri"/>
                        </a:rPr>
                        <a:t>0.012%</a:t>
                      </a:r>
                    </a:p>
                  </a:txBody>
                  <a:tcPr marL="60000" marR="60000" marT="40000" marB="40000" anchor="ctr">
                    <a:solidFill>
                      <a:srgbClr val="FFFFFF"/>
                    </a:solidFill>
                  </a:tcPr>
                </a:tc>
                <a:tc>
                  <a:txBody>
                    <a:bodyPr/>
                    <a:lstStyle/>
                    <a:p>
                      <a:r>
                        <a:rPr sz="1400" b="0">
                          <a:solidFill>
                            <a:srgbClr val="1F2A37"/>
                          </a:solidFill>
                          <a:latin typeface="Calibri"/>
                        </a:rPr>
                        <a:t>50%</a:t>
                      </a:r>
                    </a:p>
                  </a:txBody>
                  <a:tcPr marL="60000" marR="60000" marT="40000" marB="40000" anchor="ctr">
                    <a:solidFill>
                      <a:srgbClr val="FFFFFF"/>
                    </a:solidFill>
                  </a:tcPr>
                </a:tc>
              </a:tr>
              <a:tr h="475488">
                <a:tc>
                  <a:txBody>
                    <a:bodyPr/>
                    <a:lstStyle/>
                    <a:p>
                      <a:r>
                        <a:rPr sz="1400" b="0">
                          <a:solidFill>
                            <a:srgbClr val="1F2A37"/>
                          </a:solidFill>
                          <a:latin typeface="Calibri"/>
                        </a:rPr>
                        <a:t>512</a:t>
                      </a:r>
                    </a:p>
                  </a:txBody>
                  <a:tcPr marL="60000" marR="60000" marT="40000" marB="40000" anchor="ctr">
                    <a:solidFill>
                      <a:srgbClr val="FAFBFC"/>
                    </a:solidFill>
                  </a:tcPr>
                </a:tc>
                <a:tc>
                  <a:txBody>
                    <a:bodyPr/>
                    <a:lstStyle/>
                    <a:p>
                      <a:r>
                        <a:rPr sz="1400" b="0">
                          <a:solidFill>
                            <a:srgbClr val="1F2A37"/>
                          </a:solidFill>
                          <a:latin typeface="Calibri"/>
                        </a:rPr>
                        <a:t>448</a:t>
                      </a:r>
                    </a:p>
                  </a:txBody>
                  <a:tcPr marL="60000" marR="60000" marT="40000" marB="40000" anchor="ctr">
                    <a:solidFill>
                      <a:srgbClr val="FAFBFC"/>
                    </a:solidFill>
                  </a:tcPr>
                </a:tc>
                <a:tc>
                  <a:txBody>
                    <a:bodyPr/>
                    <a:lstStyle/>
                    <a:p>
                      <a:r>
                        <a:rPr sz="1400" b="0">
                          <a:solidFill>
                            <a:srgbClr val="1F2A37"/>
                          </a:solidFill>
                          <a:latin typeface="Calibri"/>
                        </a:rPr>
                        <a:t>56 MiB</a:t>
                      </a:r>
                    </a:p>
                  </a:txBody>
                  <a:tcPr marL="60000" marR="60000" marT="40000" marB="40000" anchor="ctr">
                    <a:solidFill>
                      <a:srgbClr val="FAFBFC"/>
                    </a:solidFill>
                  </a:tcPr>
                </a:tc>
                <a:tc>
                  <a:txBody>
                    <a:bodyPr/>
                    <a:lstStyle/>
                    <a:p>
                      <a:r>
                        <a:rPr sz="1400" b="0">
                          <a:solidFill>
                            <a:srgbClr val="1F2A37"/>
                          </a:solidFill>
                          <a:latin typeface="Calibri"/>
                        </a:rPr>
                        <a:t>0.082%</a:t>
                      </a:r>
                    </a:p>
                  </a:txBody>
                  <a:tcPr marL="60000" marR="60000" marT="40000" marB="40000" anchor="ctr">
                    <a:solidFill>
                      <a:srgbClr val="FAFBFC"/>
                    </a:solidFill>
                  </a:tcPr>
                </a:tc>
                <a:tc>
                  <a:txBody>
                    <a:bodyPr/>
                    <a:lstStyle/>
                    <a:p>
                      <a:r>
                        <a:rPr sz="1400" b="0">
                          <a:solidFill>
                            <a:srgbClr val="1F2A37"/>
                          </a:solidFill>
                          <a:latin typeface="Calibri"/>
                        </a:rPr>
                        <a:t>88%</a:t>
                      </a:r>
                    </a:p>
                  </a:txBody>
                  <a:tcPr marL="60000" marR="60000" marT="40000" marB="40000" anchor="ctr">
                    <a:solidFill>
                      <a:srgbClr val="FAFBFC"/>
                    </a:solidFill>
                  </a:tcPr>
                </a:tc>
              </a:tr>
              <a:tr h="475488">
                <a:tc>
                  <a:txBody>
                    <a:bodyPr/>
                    <a:lstStyle/>
                    <a:p>
                      <a:r>
                        <a:rPr sz="1400" b="0">
                          <a:solidFill>
                            <a:srgbClr val="1F2A37"/>
                          </a:solidFill>
                          <a:latin typeface="Calibri"/>
                        </a:rPr>
                        <a:t>1024</a:t>
                      </a:r>
                    </a:p>
                  </a:txBody>
                  <a:tcPr marL="60000" marR="60000" marT="40000" marB="40000" anchor="ctr">
                    <a:solidFill>
                      <a:srgbClr val="FFFFFF"/>
                    </a:solidFill>
                  </a:tcPr>
                </a:tc>
                <a:tc>
                  <a:txBody>
                    <a:bodyPr/>
                    <a:lstStyle/>
                    <a:p>
                      <a:r>
                        <a:rPr sz="1400" b="0">
                          <a:solidFill>
                            <a:srgbClr val="1F2A37"/>
                          </a:solidFill>
                          <a:latin typeface="Calibri"/>
                        </a:rPr>
                        <a:t>960</a:t>
                      </a:r>
                    </a:p>
                  </a:txBody>
                  <a:tcPr marL="60000" marR="60000" marT="40000" marB="40000" anchor="ctr">
                    <a:solidFill>
                      <a:srgbClr val="FFFFFF"/>
                    </a:solidFill>
                  </a:tcPr>
                </a:tc>
                <a:tc>
                  <a:txBody>
                    <a:bodyPr/>
                    <a:lstStyle/>
                    <a:p>
                      <a:r>
                        <a:rPr sz="1400" b="0">
                          <a:solidFill>
                            <a:srgbClr val="1F2A37"/>
                          </a:solidFill>
                          <a:latin typeface="Calibri"/>
                        </a:rPr>
                        <a:t>120 MiB</a:t>
                      </a:r>
                    </a:p>
                  </a:txBody>
                  <a:tcPr marL="60000" marR="60000" marT="40000" marB="40000" anchor="ctr">
                    <a:solidFill>
                      <a:srgbClr val="FFFFFF"/>
                    </a:solidFill>
                  </a:tcPr>
                </a:tc>
                <a:tc>
                  <a:txBody>
                    <a:bodyPr/>
                    <a:lstStyle/>
                    <a:p>
                      <a:r>
                        <a:rPr sz="1400" b="0">
                          <a:solidFill>
                            <a:srgbClr val="1F2A37"/>
                          </a:solidFill>
                          <a:latin typeface="Calibri"/>
                        </a:rPr>
                        <a:t>0.176%</a:t>
                      </a:r>
                    </a:p>
                  </a:txBody>
                  <a:tcPr marL="60000" marR="60000" marT="40000" marB="40000" anchor="ctr">
                    <a:solidFill>
                      <a:srgbClr val="FFFFFF"/>
                    </a:solidFill>
                  </a:tcPr>
                </a:tc>
                <a:tc>
                  <a:txBody>
                    <a:bodyPr/>
                    <a:lstStyle/>
                    <a:p>
                      <a:r>
                        <a:rPr sz="1400" b="0">
                          <a:solidFill>
                            <a:srgbClr val="1F2A37"/>
                          </a:solidFill>
                          <a:latin typeface="Calibri"/>
                        </a:rPr>
                        <a:t>94%</a:t>
                      </a:r>
                    </a:p>
                  </a:txBody>
                  <a:tcPr marL="60000" marR="60000" marT="40000" marB="40000" anchor="ctr">
                    <a:solidFill>
                      <a:srgbClr val="FFFFFF"/>
                    </a:solidFill>
                  </a:tcPr>
                </a:tc>
              </a:tr>
              <a:tr h="475488">
                <a:tc>
                  <a:txBody>
                    <a:bodyPr/>
                    <a:lstStyle/>
                    <a:p>
                      <a:r>
                        <a:rPr sz="1400" b="0">
                          <a:solidFill>
                            <a:srgbClr val="1F2A37"/>
                          </a:solidFill>
                          <a:latin typeface="Calibri"/>
                        </a:rPr>
                        <a:t>1500</a:t>
                      </a:r>
                    </a:p>
                  </a:txBody>
                  <a:tcPr marL="60000" marR="60000" marT="40000" marB="40000" anchor="ctr">
                    <a:solidFill>
                      <a:srgbClr val="FAFBFC"/>
                    </a:solidFill>
                  </a:tcPr>
                </a:tc>
                <a:tc>
                  <a:txBody>
                    <a:bodyPr/>
                    <a:lstStyle/>
                    <a:p>
                      <a:r>
                        <a:rPr sz="1400" b="0">
                          <a:solidFill>
                            <a:srgbClr val="1F2A37"/>
                          </a:solidFill>
                          <a:latin typeface="Calibri"/>
                        </a:rPr>
                        <a:t>1436</a:t>
                      </a:r>
                    </a:p>
                  </a:txBody>
                  <a:tcPr marL="60000" marR="60000" marT="40000" marB="40000" anchor="ctr">
                    <a:solidFill>
                      <a:srgbClr val="FAFBFC"/>
                    </a:solidFill>
                  </a:tcPr>
                </a:tc>
                <a:tc>
                  <a:txBody>
                    <a:bodyPr/>
                    <a:lstStyle/>
                    <a:p>
                      <a:r>
                        <a:rPr sz="1400" b="0">
                          <a:solidFill>
                            <a:srgbClr val="1F2A37"/>
                          </a:solidFill>
                          <a:latin typeface="Calibri"/>
                        </a:rPr>
                        <a:t>180 MiB</a:t>
                      </a:r>
                    </a:p>
                  </a:txBody>
                  <a:tcPr marL="60000" marR="60000" marT="40000" marB="40000" anchor="ctr">
                    <a:solidFill>
                      <a:srgbClr val="FAFBFC"/>
                    </a:solidFill>
                  </a:tcPr>
                </a:tc>
                <a:tc>
                  <a:txBody>
                    <a:bodyPr/>
                    <a:lstStyle/>
                    <a:p>
                      <a:r>
                        <a:rPr sz="1400" b="0">
                          <a:solidFill>
                            <a:srgbClr val="1F2A37"/>
                          </a:solidFill>
                          <a:latin typeface="Calibri"/>
                        </a:rPr>
                        <a:t>0.263%</a:t>
                      </a:r>
                    </a:p>
                  </a:txBody>
                  <a:tcPr marL="60000" marR="60000" marT="40000" marB="40000" anchor="ctr">
                    <a:solidFill>
                      <a:srgbClr val="FAFBFC"/>
                    </a:solidFill>
                  </a:tcPr>
                </a:tc>
                <a:tc>
                  <a:txBody>
                    <a:bodyPr/>
                    <a:lstStyle/>
                    <a:p>
                      <a:r>
                        <a:rPr sz="1400" b="0">
                          <a:solidFill>
                            <a:srgbClr val="1F2A37"/>
                          </a:solidFill>
                          <a:latin typeface="Calibri"/>
                        </a:rPr>
                        <a:t>95%</a:t>
                      </a:r>
                    </a:p>
                  </a:txBody>
                  <a:tcPr marL="60000" marR="60000" marT="40000" marB="40000" anchor="ctr">
                    <a:solidFill>
                      <a:srgbClr val="FAFBFC"/>
                    </a:solidFill>
                  </a:tcPr>
                </a:tc>
              </a:tr>
            </a:tbl>
          </a:graphicData>
        </a:graphic>
      </p:graphicFrame>
      <p:sp>
        <p:nvSpPr>
          <p:cNvPr id="6" name="TextBox 5"/>
          <p:cNvSpPr txBox="1"/>
          <p:nvPr/>
        </p:nvSpPr>
        <p:spPr>
          <a:xfrm>
            <a:off x="457200" y="4160520"/>
            <a:ext cx="11247120" cy="320040"/>
          </a:xfrm>
          <a:prstGeom prst="rect">
            <a:avLst/>
          </a:prstGeom>
          <a:noFill/>
        </p:spPr>
        <p:txBody>
          <a:bodyPr wrap="square" lIns="0" rIns="0" tIns="0" bIns="0">
            <a:spAutoFit/>
          </a:bodyPr>
          <a:lstStyle/>
          <a:p>
            <a:pPr algn="l"/>
            <a:r>
              <a:rPr sz="1200" b="0" i="1">
                <a:solidFill>
                  <a:srgbClr val="555F6E"/>
                </a:solidFill>
                <a:latin typeface="Calibri"/>
              </a:rPr>
              <a:t>Cached once per unique prefix, reused across every session that shares it — not per request, not per user.</a:t>
            </a:r>
          </a:p>
        </p:txBody>
      </p:sp>
      <p:sp>
        <p:nvSpPr>
          <p:cNvPr id="7" name="TextBox 6"/>
          <p:cNvSpPr txBox="1"/>
          <p:nvPr/>
        </p:nvSpPr>
        <p:spPr>
          <a:xfrm>
            <a:off x="548640" y="4526280"/>
            <a:ext cx="5486400" cy="274320"/>
          </a:xfrm>
          <a:prstGeom prst="rect">
            <a:avLst/>
          </a:prstGeom>
          <a:noFill/>
        </p:spPr>
        <p:txBody>
          <a:bodyPr wrap="square" lIns="0" rIns="0" tIns="0" bIns="0">
            <a:spAutoFit/>
          </a:bodyPr>
          <a:lstStyle/>
          <a:p>
            <a:pPr algn="l"/>
            <a:r>
              <a:rPr sz="1100" b="1" i="0">
                <a:solidFill>
                  <a:srgbClr val="2E66C2"/>
                </a:solidFill>
                <a:latin typeface="Calibri"/>
              </a:rPr>
              <a:t>FIRST-PRINCIPLES MATH</a:t>
            </a:r>
          </a:p>
        </p:txBody>
      </p:sp>
      <p:sp>
        <p:nvSpPr>
          <p:cNvPr id="8" name="TextBox 7"/>
          <p:cNvSpPr txBox="1"/>
          <p:nvPr/>
        </p:nvSpPr>
        <p:spPr>
          <a:xfrm>
            <a:off x="548640" y="4846320"/>
            <a:ext cx="5486400" cy="1280160"/>
          </a:xfrm>
          <a:prstGeom prst="rect">
            <a:avLst/>
          </a:prstGeom>
          <a:noFill/>
        </p:spPr>
        <p:txBody>
          <a:bodyPr wrap="square" lIns="0" rIns="0" tIns="0" bIns="0">
            <a:spAutoFit/>
          </a:bodyPr>
          <a:lstStyle/>
          <a:p>
            <a:pPr algn="l"/>
            <a:r>
              <a:rPr sz="1200" b="0" i="0">
                <a:solidFill>
                  <a:srgbClr val="555F6E"/>
                </a:solidFill>
                <a:latin typeface="Calibri"/>
              </a:rPr>
              <a:t>Per token of cached prefix:</a:t>
            </a:r>
          </a:p>
          <a:p>
            <a:r>
              <a:t>16 layers × 2 (K + V) × 16 heads × 128 d_head × 2 bytes (bf16)</a:t>
            </a:r>
          </a:p>
          <a:p>
            <a:r>
              <a:t>= 131,072 bytes = 128 KiB / token</a:t>
            </a:r>
          </a:p>
        </p:txBody>
      </p:sp>
      <p:sp>
        <p:nvSpPr>
          <p:cNvPr id="9" name="TextBox 8"/>
          <p:cNvSpPr txBox="1"/>
          <p:nvPr/>
        </p:nvSpPr>
        <p:spPr>
          <a:xfrm>
            <a:off x="6400800" y="4526280"/>
            <a:ext cx="5486400" cy="274320"/>
          </a:xfrm>
          <a:prstGeom prst="rect">
            <a:avLst/>
          </a:prstGeom>
          <a:noFill/>
        </p:spPr>
        <p:txBody>
          <a:bodyPr wrap="square" lIns="0" rIns="0" tIns="0" bIns="0">
            <a:spAutoFit/>
          </a:bodyPr>
          <a:lstStyle/>
          <a:p>
            <a:pPr algn="l"/>
            <a:r>
              <a:rPr sz="1100" b="1" i="0">
                <a:solidFill>
                  <a:srgbClr val="2E66C2"/>
                </a:solidFill>
                <a:latin typeface="Calibri"/>
              </a:rPr>
              <a:t>MEASURED ON g7e.12xlarge</a:t>
            </a:r>
          </a:p>
        </p:txBody>
      </p:sp>
      <p:sp>
        <p:nvSpPr>
          <p:cNvPr id="10" name="TextBox 9"/>
          <p:cNvSpPr txBox="1"/>
          <p:nvPr/>
        </p:nvSpPr>
        <p:spPr>
          <a:xfrm>
            <a:off x="6400800" y="4846320"/>
            <a:ext cx="5486400" cy="1280160"/>
          </a:xfrm>
          <a:prstGeom prst="rect">
            <a:avLst/>
          </a:prstGeom>
          <a:noFill/>
        </p:spPr>
        <p:txBody>
          <a:bodyPr wrap="square" lIns="0" rIns="0" tIns="0" bIns="0">
            <a:spAutoFit/>
          </a:bodyPr>
          <a:lstStyle/>
          <a:p>
            <a:pPr algn="l"/>
            <a:r>
              <a:rPr sz="1200" b="0" i="0">
                <a:solidFill>
                  <a:srgbClr val="555F6E"/>
                </a:solidFill>
                <a:latin typeface="Calibri"/>
              </a:rPr>
              <a:t>Total KV cache budget: 545,184 tokens (~73 GiB) at gpu_mem_util=0.85.</a:t>
            </a:r>
          </a:p>
          <a:p>
            <a:r>
              <a:t>Even L=1500 uses &lt; 0.3% of the budget. Memory is not the constraint.</a:t>
            </a:r>
          </a:p>
        </p:txBody>
      </p:sp>
      <p:sp>
        <p:nvSpPr>
          <p:cNvPr id="11" name="TextBox 10"/>
          <p:cNvSpPr txBox="1"/>
          <p:nvPr/>
        </p:nvSpPr>
        <p:spPr>
          <a:xfrm>
            <a:off x="548640" y="6172200"/>
            <a:ext cx="11247120" cy="502920"/>
          </a:xfrm>
          <a:prstGeom prst="rect">
            <a:avLst/>
          </a:prstGeom>
          <a:noFill/>
        </p:spPr>
        <p:txBody>
          <a:bodyPr wrap="square" lIns="0" rIns="0" tIns="0" bIns="0">
            <a:spAutoFit/>
          </a:bodyPr>
          <a:lstStyle/>
          <a:p>
            <a:pPr algn="l"/>
            <a:r>
              <a:rPr sz="1000" b="0" i="1">
                <a:solidFill>
                  <a:srgbClr val="555F6E"/>
                </a:solidFill>
                <a:latin typeface="Calibri"/>
              </a:rPr>
              <a:t>vLLM gauge `vllm:kv_cache_usage_perc` reads 0.000% at every L (rounded; sub-1% allocations are below the gauge's reporting precision). Hit rate and prompt_tokens_cached counters confirm the cache is allocating and reusing prefixes as expected.</a:t>
            </a:r>
          </a:p>
        </p:txBody>
      </p:sp>
      <p:sp>
        <p:nvSpPr>
          <p:cNvPr id="12" name="TextBox 11"/>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3" name="TextBox 12"/>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