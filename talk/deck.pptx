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Two columns: what the pipeline does on the left, what makes the methodology honest on the right.</a:t>
            </a:r>
          </a:p>
          <a:p/>
          <a:p>
            <a:r>
              <a:t>Key talking points:</a:t>
            </a:r>
          </a:p>
          <a:p/>
          <a:p>
            <a:r>
              <a:t>Reproducibility: every number on every slide came from running one of these scripts. The deck itself reads JSON from results/ via talk/numbers.py — re-running the benchmark refreshes the slides without me touching them. That's the discipline that lets the next person re-baseline when the model or hardware changes.</a:t>
            </a:r>
          </a:p>
          <a:p/>
          <a:p>
            <a:r>
              <a:t>Engine-agnostic harness: scripts/harness/ wraps the vLLM server lifecycle behind an OpenAI-compatible HTTP client. Swap the server launcher and the same benchmarks run against TRT-LLM, SGLang, or anything else with an OpenAI endpoint. That's deliberate — when the next model arrives, the harness doesn't have to be rewritten.</a:t>
            </a:r>
          </a:p>
          <a:p/>
          <a:p>
            <a:r>
              <a:t>Seed pinning: every benchmark uses seed=42 for prompt generation. Variance across runs is under 1 ms — that's how we can trust small deltas as signal, not noise.</a:t>
            </a:r>
          </a:p>
          <a:p/>
          <a:p>
            <a:r>
              <a:t>If asked: code is on the next slide, scan the QR.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Walk the panel through the reasoning if asked.</a:t>
            </a:r>
          </a:p>
          <a:p/>
          <a:p>
            <a:r>
              <a:t>PER-LAYER PREFILL COST decomposes into two terms:</a:t>
            </a:r>
          </a:p>
          <a:p>
            <a:r>
              <a:t>  Attention's score-matrix work   ~  4 · N² · d_model       (quadratic in N)</a:t>
            </a:r>
          </a:p>
          <a:p>
            <a:r>
              <a:t>  MoE FFN work                    ~  2 · N · d_model · d_ff · K  (linear in N)</a:t>
            </a:r>
          </a:p>
          <a:p>
            <a:r>
              <a:t>where K is the number of active experts per token.</a:t>
            </a:r>
          </a:p>
          <a:p/>
          <a:p>
            <a:r>
              <a:t>WHY FFN DOMINATES AT L=1024:</a:t>
            </a:r>
          </a:p>
          <a:p>
            <a:r>
              <a:t>  Attention term: 4 × 1024² × 2048 ≈ 8.6 GFLOPs</a:t>
            </a:r>
          </a:p>
          <a:p>
            <a:r>
              <a:t>  MoE FFN term:   2 × 1024 × 2048 × 1024 × 8 (experts) ≈ 69 GFLOPs</a:t>
            </a:r>
          </a:p>
          <a:p>
            <a:r>
              <a:t>FFN is 8× larger because of the 8-active-experts multiplier — each token's representation goes through 8 separate two-matmul FFN blocks. Attention has no such multiplier; it's just one Q·K^T per head with d_model split across heads.</a:t>
            </a:r>
          </a:p>
          <a:p/>
          <a:p>
            <a:r>
              <a:t>WHERE THE CROSSOVER LANDS:</a:t>
            </a:r>
          </a:p>
          <a:p>
            <a:r>
              <a:t>Set the two terms equal to find the input length where attention catches up:</a:t>
            </a:r>
          </a:p>
          <a:p>
            <a:r>
              <a:t>  4 · N² · d_model  =  2 · N · d_model · d_ff · K</a:t>
            </a:r>
          </a:p>
          <a:p>
            <a:r>
              <a:t>  N  =  d_ff · K / 2</a:t>
            </a:r>
          </a:p>
          <a:p>
            <a:r>
              <a:t>Plug in OLMoE's shapes: d_ff = 1024, K = 8, so:</a:t>
            </a:r>
          </a:p>
          <a:p>
            <a:r>
              <a:t>  N  =  1024 · 8 / 2  =  4096</a:t>
            </a:r>
          </a:p>
          <a:p>
            <a:r>
              <a:t>Roughly 4-8K depending on which constants you include (router cost, attention projection costs, etc.). Common shorthand: 'attention doesn't dominate until N ≈ 8K' — close enough for an intuition.</a:t>
            </a:r>
          </a:p>
          <a:p/>
          <a:p>
            <a:r>
              <a:t>WHY THIS MATTERS FOR THIS MODEL:</a:t>
            </a:r>
          </a:p>
          <a:p>
            <a:r>
              <a:t>OLMoE's max context is 4096 tokens. The crossover is right at the edge of — or past — what the model can process in a single request. For practical purposes, prefill is FFN-dominated for every request this model can serve.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000" b="1" i="0">
                <a:solidFill>
                  <a:srgbClr val="1F2A37"/>
                </a:solidFill>
                <a:latin typeface="Calibri"/>
              </a:rPr>
              <a:t>Unblock the chat application production launch</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grouped-GEMM on tensor cores — owns ~80% of prefill</a:t>
            </a:r>
          </a:p>
          <a:p>
            <a:pPr algn="l">
              <a:spcAft>
                <a:spcPts val="600"/>
              </a:spcAft>
            </a:pPr>
            <a:r>
              <a:rPr sz="1400">
                <a:solidFill>
                  <a:srgbClr val="1F2A37"/>
                </a:solidFill>
                <a:latin typeface="Calibri"/>
              </a:rPr>
              <a:t>•  Decode is memory-bandwidth-bound on projection-weight loads</a:t>
            </a:r>
          </a:p>
          <a:p>
            <a:pPr algn="l">
              <a:spcAft>
                <a:spcPts val="600"/>
              </a:spcAft>
            </a:pPr>
            <a:r>
              <a:rPr sz="1400">
                <a:solidFill>
                  <a:srgbClr val="1F2A37"/>
                </a:solidFill>
                <a:latin typeface="Calibri"/>
              </a:rPr>
              <a:t>•  Hot path is already production-tuned in vLLM — no kernel headroom</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(P=2048)</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Use continuous batching only for throughput-mode workloads — not chat — per-request TPOT degrades 4× by B=32</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5486400" cy="274320"/>
          </a:xfrm>
          <a:prstGeom prst="rect">
            <a:avLst/>
          </a:prstGeom>
          <a:noFill/>
        </p:spPr>
        <p:txBody>
          <a:bodyPr wrap="square" lIns="0" rIns="0" tIns="0" bIns="0">
            <a:spAutoFit/>
          </a:bodyPr>
          <a:lstStyle/>
          <a:p>
            <a:pPr algn="l"/>
            <a:r>
              <a:rPr sz="1100" b="1" i="0">
                <a:solidFill>
                  <a:srgbClr val="2E66C2"/>
                </a:solidFill>
                <a:latin typeface="Calibri"/>
              </a:rPr>
              <a:t>MEASUREMENT PIPELINE</a:t>
            </a:r>
          </a:p>
        </p:txBody>
      </p:sp>
      <p:sp>
        <p:nvSpPr>
          <p:cNvPr id="6" name="TextBox 5"/>
          <p:cNvSpPr txBox="1"/>
          <p:nvPr/>
        </p:nvSpPr>
        <p:spPr>
          <a:xfrm>
            <a:off x="548640" y="2057400"/>
            <a:ext cx="5486400" cy="3474720"/>
          </a:xfrm>
          <a:prstGeom prst="rect">
            <a:avLst/>
          </a:prstGeom>
          <a:noFill/>
        </p:spPr>
        <p:txBody>
          <a:bodyPr wrap="square" lIns="0" rIns="0" tIns="0" bIns="0">
            <a:spAutoFit/>
          </a:bodyPr>
          <a:lstStyle/>
          <a:p>
            <a:pPr algn="l">
              <a:spcAft>
                <a:spcPts val="800"/>
              </a:spcAft>
            </a:pPr>
            <a:r>
              <a:rPr sz="1200">
                <a:solidFill>
                  <a:srgbClr val="1F2A37"/>
                </a:solidFill>
                <a:latin typeface="Calibri"/>
              </a:rPr>
              <a:t>•  scripts/benchmark_latency.py — TTFT/TPOT sweep (bf16, FP8, TP=2)</a:t>
            </a:r>
          </a:p>
          <a:p>
            <a:pPr algn="l">
              <a:spcAft>
                <a:spcPts val="800"/>
              </a:spcAft>
            </a:pPr>
            <a:r>
              <a:rPr sz="1200">
                <a:solidFill>
                  <a:srgbClr val="1F2A37"/>
                </a:solidFill>
                <a:latin typeface="Calibri"/>
              </a:rPr>
              <a:t>•  scripts/profile_prefill.py / profile_decode.py — torch.profiler traces</a:t>
            </a:r>
          </a:p>
          <a:p>
            <a:pPr algn="l">
              <a:spcAft>
                <a:spcPts val="800"/>
              </a:spcAft>
            </a:pPr>
            <a:r>
              <a:rPr sz="1200">
                <a:solidFill>
                  <a:srgbClr val="1F2A37"/>
                </a:solidFill>
                <a:latin typeface="Calibri"/>
              </a:rPr>
              <a:t>•  scripts/bench_prefix_caching.py — caching, with all combos</a:t>
            </a:r>
          </a:p>
          <a:p>
            <a:pPr algn="l">
              <a:spcAft>
                <a:spcPts val="800"/>
              </a:spcAft>
            </a:pPr>
            <a:r>
              <a:rPr sz="1200">
                <a:solidFill>
                  <a:srgbClr val="1F2A37"/>
                </a:solidFill>
                <a:latin typeface="Calibri"/>
              </a:rPr>
              <a:t>•  scripts/bench_batching_decode.py — concurrent-load sweep</a:t>
            </a:r>
          </a:p>
          <a:p>
            <a:pPr algn="l">
              <a:spcAft>
                <a:spcPts val="800"/>
              </a:spcAft>
            </a:pPr>
            <a:r>
              <a:rPr sz="1200">
                <a:solidFill>
                  <a:srgbClr val="1F2A37"/>
                </a:solidFill>
                <a:latin typeface="Calibri"/>
              </a:rPr>
              <a:t>•  scripts/eval_suite.py — lm-eval-harness for FP8 accuracy</a:t>
            </a:r>
          </a:p>
          <a:p>
            <a:pPr algn="l">
              <a:spcAft>
                <a:spcPts val="800"/>
              </a:spcAft>
            </a:pPr>
            <a:r>
              <a:rPr sz="1200">
                <a:solidFill>
                  <a:srgbClr val="1F2A37"/>
                </a:solidFill>
                <a:latin typeface="Calibri"/>
              </a:rPr>
              <a:t>•  scripts/harness/ — engine-agnostic vLLM-server client + lifecycle</a:t>
            </a:r>
          </a:p>
        </p:txBody>
      </p:sp>
      <p:sp>
        <p:nvSpPr>
          <p:cNvPr id="7" name="TextBox 6"/>
          <p:cNvSpPr txBox="1"/>
          <p:nvPr/>
        </p:nvSpPr>
        <p:spPr>
          <a:xfrm>
            <a:off x="6400800" y="1691640"/>
            <a:ext cx="5486400" cy="274320"/>
          </a:xfrm>
          <a:prstGeom prst="rect">
            <a:avLst/>
          </a:prstGeom>
          <a:noFill/>
        </p:spPr>
        <p:txBody>
          <a:bodyPr wrap="square" lIns="0" rIns="0" tIns="0" bIns="0">
            <a:spAutoFit/>
          </a:bodyPr>
          <a:lstStyle/>
          <a:p>
            <a:pPr algn="l"/>
            <a:r>
              <a:rPr sz="1100" b="1" i="0">
                <a:solidFill>
                  <a:srgbClr val="2E66C2"/>
                </a:solidFill>
                <a:latin typeface="Calibri"/>
              </a:rPr>
              <a:t>HOW IT STAYS HONEST</a:t>
            </a:r>
          </a:p>
        </p:txBody>
      </p:sp>
      <p:sp>
        <p:nvSpPr>
          <p:cNvPr id="8" name="TextBox 7"/>
          <p:cNvSpPr txBox="1"/>
          <p:nvPr/>
        </p:nvSpPr>
        <p:spPr>
          <a:xfrm>
            <a:off x="6400800" y="2057400"/>
            <a:ext cx="5486400" cy="3474720"/>
          </a:xfrm>
          <a:prstGeom prst="rect">
            <a:avLst/>
          </a:prstGeom>
          <a:noFill/>
        </p:spPr>
        <p:txBody>
          <a:bodyPr wrap="square" lIns="0" rIns="0" tIns="0" bIns="0">
            <a:spAutoFit/>
          </a:bodyPr>
          <a:lstStyle/>
          <a:p>
            <a:pPr algn="l">
              <a:spcAft>
                <a:spcPts val="800"/>
              </a:spcAft>
            </a:pPr>
            <a:r>
              <a:rPr sz="1200">
                <a:solidFill>
                  <a:srgbClr val="1F2A37"/>
                </a:solidFill>
                <a:latin typeface="Calibri"/>
              </a:rPr>
              <a:t>•  Every measurement → timestamped JSON in results/</a:t>
            </a:r>
          </a:p>
          <a:p>
            <a:pPr algn="l">
              <a:spcAft>
                <a:spcPts val="800"/>
              </a:spcAft>
            </a:pPr>
            <a:r>
              <a:rPr sz="1200">
                <a:solidFill>
                  <a:srgbClr val="1F2A37"/>
                </a:solidFill>
                <a:latin typeface="Calibri"/>
              </a:rPr>
              <a:t>•  talk/numbers.py reads JSON; deck refreshes on rerun</a:t>
            </a:r>
          </a:p>
          <a:p>
            <a:pPr algn="l">
              <a:spcAft>
                <a:spcPts val="800"/>
              </a:spcAft>
            </a:pPr>
            <a:r>
              <a:rPr sz="1200">
                <a:solidFill>
                  <a:srgbClr val="1F2A37"/>
                </a:solidFill>
                <a:latin typeface="Calibri"/>
              </a:rPr>
              <a:t>•  scripts/plots/ regenerates every chart from results/</a:t>
            </a:r>
          </a:p>
          <a:p>
            <a:pPr algn="l">
              <a:spcAft>
                <a:spcPts val="800"/>
              </a:spcAft>
            </a:pPr>
            <a:r>
              <a:rPr sz="1200">
                <a:solidFill>
                  <a:srgbClr val="1F2A37"/>
                </a:solidFill>
                <a:latin typeface="Calibri"/>
              </a:rPr>
              <a:t>•  scripts/build_deck.py rebuilds the deck end-to-end</a:t>
            </a:r>
          </a:p>
          <a:p>
            <a:pPr algn="l">
              <a:spcAft>
                <a:spcPts val="800"/>
              </a:spcAft>
            </a:pPr>
            <a:r>
              <a:rPr sz="1200">
                <a:solidFill>
                  <a:srgbClr val="1F2A37"/>
                </a:solidFill>
                <a:latin typeface="Calibri"/>
              </a:rPr>
              <a:t>•  Seed pinned at 42 — same prompts run-to-run</a:t>
            </a:r>
          </a:p>
          <a:p>
            <a:pPr algn="l">
              <a:spcAft>
                <a:spcPts val="800"/>
              </a:spcAft>
            </a:pPr>
            <a:r>
              <a:rPr sz="1200">
                <a:solidFill>
                  <a:srgbClr val="1F2A37"/>
                </a:solidFill>
                <a:latin typeface="Calibri"/>
              </a:rPr>
              <a:t>•  Engine-agnostic harness: swap vLLM for TRT-LLM, SGLang in one line</a:t>
            </a:r>
          </a:p>
        </p:txBody>
      </p:sp>
      <p:sp>
        <p:nvSpPr>
          <p:cNvPr id="9" name="TextBox 8"/>
          <p:cNvSpPr txBox="1"/>
          <p:nvPr/>
        </p:nvSpPr>
        <p:spPr>
          <a:xfrm>
            <a:off x="548640" y="5715000"/>
            <a:ext cx="11155680" cy="548640"/>
          </a:xfrm>
          <a:prstGeom prst="rect">
            <a:avLst/>
          </a:prstGeom>
          <a:noFill/>
        </p:spPr>
        <p:txBody>
          <a:bodyPr wrap="square" lIns="0" rIns="0" tIns="0" bIns="0">
            <a:spAutoFit/>
          </a:bodyPr>
          <a:lstStyle/>
          <a:p>
            <a:pPr algn="l"/>
            <a:r>
              <a:rPr sz="1200" b="0" i="1">
                <a:solidFill>
                  <a:srgbClr val="555F6E"/>
                </a:solidFill>
                <a:latin typeface="Calibri"/>
              </a:rPr>
              <a:t>One command — `uv run python main.py` — prints the full reproduction order. Every number on every slide is one rerun away from being refreshed.</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972800" cy="1828800"/>
          </a:xfrm>
          <a:prstGeom prst="rect">
            <a:avLst/>
          </a:prstGeom>
          <a:noFill/>
        </p:spPr>
        <p:txBody>
          <a:bodyPr wrap="square" lIns="0" rIns="0" tIns="0" bIns="0">
            <a:spAutoFit/>
          </a:bodyPr>
          <a:lstStyle/>
          <a:p>
            <a:pPr algn="ctr"/>
            <a:r>
              <a:rPr sz="12000" b="1" i="0">
                <a:solidFill>
                  <a:srgbClr val="1F2A37"/>
                </a:solidFill>
                <a:latin typeface="Calibri"/>
              </a:rPr>
              <a:t>Q&amp;A</a:t>
            </a:r>
          </a:p>
        </p:txBody>
      </p:sp>
      <p:sp>
        <p:nvSpPr>
          <p:cNvPr id="3" name="Rectangle 2"/>
          <p:cNvSpPr/>
          <p:nvPr/>
        </p:nvSpPr>
        <p:spPr>
          <a:xfrm>
            <a:off x="5120640" y="420624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480560"/>
            <a:ext cx="10972800" cy="457200"/>
          </a:xfrm>
          <a:prstGeom prst="rect">
            <a:avLst/>
          </a:prstGeom>
          <a:noFill/>
        </p:spPr>
        <p:txBody>
          <a:bodyPr wrap="square" lIns="0" rIns="0" tIns="0" bIns="0">
            <a:spAutoFit/>
          </a:bodyPr>
          <a:lstStyle/>
          <a:p>
            <a:pPr algn="ctr"/>
            <a:r>
              <a:rPr sz="2200" b="0" i="0">
                <a:solidFill>
                  <a:srgbClr val="555F6E"/>
                </a:solidFill>
                <a:latin typeface="Calibri"/>
              </a:rPr>
              <a:t>15 minutes — fire away.</a:t>
            </a:r>
          </a:p>
        </p:txBody>
      </p:sp>
      <p:sp>
        <p:nvSpPr>
          <p:cNvPr id="5" name="TextBox 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6" name="TextBox 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