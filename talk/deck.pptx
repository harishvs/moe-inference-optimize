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fused_moe_kernel — the grouped-GEMM kernel that runs the MoE feed-forward — owns 80% of prefill. It's already tuned for tensor cores in vLLM. Attention projections are next at 9%. Attention math itself is small; at L=1024 the FFN term dominates the quadratic attention term by roughly 9×.</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Sizing the KV cache and monitoring hit rate keeps it honest in production.</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in priority order. A staff engineer reading this should agree with each one.</a:t>
            </a:r>
          </a:p>
          <a:p/>
          <a:p>
            <a:r>
              <a:t>Last bullet matters: every claim here is tied to *this* model, *this* engine version, *this* hardware. Re-baseline whenever any of those move. The repo is set up to make that cheap.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000" b="1" i="0">
                <a:solidFill>
                  <a:srgbClr val="1F2A37"/>
                </a:solidFill>
                <a:latin typeface="Calibri"/>
              </a:rPr>
              <a:t>Unblock the chat application production launch</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159390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grouped-GEMM on tensor cores — owns ~80% of prefill</a:t>
            </a:r>
          </a:p>
          <a:p>
            <a:pPr algn="l">
              <a:spcAft>
                <a:spcPts val="600"/>
              </a:spcAft>
            </a:pPr>
            <a:r>
              <a:rPr sz="1400">
                <a:solidFill>
                  <a:srgbClr val="1F2A37"/>
                </a:solidFill>
                <a:latin typeface="Calibri"/>
              </a:rPr>
              <a:t>•  Decode is memory-bandwidth-bound on projection-weight loads</a:t>
            </a:r>
          </a:p>
          <a:p>
            <a:pPr algn="l">
              <a:spcAft>
                <a:spcPts val="600"/>
              </a:spcAft>
            </a:pPr>
            <a:r>
              <a:rPr sz="1400">
                <a:solidFill>
                  <a:srgbClr val="1F2A37"/>
                </a:solidFill>
                <a:latin typeface="Calibri"/>
              </a:rPr>
              <a:t>•  Hot path is already production-tuned in vLLM — no kernel headroom</a:t>
            </a:r>
          </a:p>
          <a:p>
            <a:pPr algn="l">
              <a:spcAft>
                <a:spcPts val="600"/>
              </a:spcAft>
            </a:pPr>
            <a:r>
              <a:rPr sz="1400">
                <a:solidFill>
                  <a:srgbClr val="1F2A37"/>
                </a:solidFill>
                <a:latin typeface="Calibri"/>
              </a:rPr>
              <a:t>•  Levers live above the kernels: quantization, caching, batching, parallelism</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(P=2048)</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numbers from in-process vLLM bench. Caching combo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40% TTFT cut on shared prompts</a:t>
                      </a:r>
                    </a:p>
                  </a:txBody>
                  <a:tcPr marL="60000" marR="60000" marT="40000" marB="40000" anchor="ctr">
                    <a:solidFill>
                      <a:srgbClr val="FAFBFC"/>
                    </a:solidFill>
                  </a:tcPr>
                </a:tc>
                <a:tc>
                  <a:txBody>
                    <a:bodyPr/>
                    <a:lstStyle/>
                    <a:p>
                      <a:r>
                        <a:rPr sz="1200" b="0">
                          <a:solidFill>
                            <a:srgbClr val="1F2A37"/>
                          </a:solidFill>
                          <a:latin typeface="Calibri"/>
                        </a:rPr>
                        <a:t>Cache miss = no benefit; memory overhead</a:t>
                      </a:r>
                    </a:p>
                  </a:txBody>
                  <a:tcPr marL="60000" marR="60000" marT="40000" marB="40000" anchor="ctr">
                    <a:solidFill>
                      <a:srgbClr val="FAFBFC"/>
                    </a:solidFill>
                  </a:tcPr>
                </a:tc>
                <a:tc>
                  <a:txBody>
                    <a:bodyPr/>
                    <a:lstStyle/>
                    <a:p>
                      <a:r>
                        <a:rPr sz="1200" b="0">
                          <a:solidFill>
                            <a:srgbClr val="1F2A37"/>
                          </a:solidFill>
                          <a:latin typeface="Calibri"/>
                        </a:rPr>
                        <a:t>Size KV cache to workload;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Enable FP8 quantization and prefix caching this week — validate accuracy on customer evals first</a:t>
            </a:r>
          </a:p>
          <a:p>
            <a:pPr algn="l">
              <a:spcAft>
                <a:spcPts val="800"/>
              </a:spcAft>
            </a:pPr>
            <a:r>
              <a:rPr sz="2000">
                <a:solidFill>
                  <a:srgbClr val="1F2A37"/>
                </a:solidFill>
                <a:latin typeface="Calibri"/>
              </a:rPr>
              <a:t>•  Evaluate tensor parallelism (TP=2) for TPOT — 14% gain at single-user load; rerun under concurrency before adopting in prod</a:t>
            </a:r>
          </a:p>
          <a:p>
            <a:pPr algn="l">
              <a:spcAft>
                <a:spcPts val="800"/>
              </a:spcAft>
            </a:pPr>
            <a:r>
              <a:rPr sz="2000">
                <a:solidFill>
                  <a:srgbClr val="1F2A37"/>
                </a:solidFill>
                <a:latin typeface="Calibri"/>
              </a:rPr>
              <a:t>•  Use continuous batching only for throughput-mode workloads — not chat — per-request TPOT degrades 4× by B=32</a:t>
            </a:r>
          </a:p>
          <a:p>
            <a:pPr algn="l">
              <a:spcAft>
                <a:spcPts val="800"/>
              </a:spcAft>
            </a:pPr>
            <a:r>
              <a:rPr sz="2000">
                <a:solidFill>
                  <a:srgbClr val="1F2A37"/>
                </a:solidFill>
                <a:latin typeface="Calibri"/>
              </a:rPr>
              <a:t>•  Re-baseline whenever the model, vLLM version, or hardware changes</a:t>
            </a:r>
          </a:p>
        </p:txBody>
      </p:sp>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5943600" cy="274320"/>
          </a:xfrm>
          <a:prstGeom prst="rect">
            <a:avLst/>
          </a:prstGeom>
          <a:noFill/>
        </p:spPr>
        <p:txBody>
          <a:bodyPr wrap="square" lIns="0" rIns="0" tIns="0" bIns="0">
            <a:spAutoFit/>
          </a:bodyPr>
          <a:lstStyle/>
          <a:p>
            <a:pPr algn="l"/>
            <a:r>
              <a:rPr sz="1200" b="1" i="0">
                <a:solidFill>
                  <a:srgbClr val="2E66C2"/>
                </a:solidFill>
                <a:latin typeface="Calibri"/>
              </a:rPr>
              <a:t>scripts/</a:t>
            </a:r>
          </a:p>
        </p:txBody>
      </p:sp>
      <p:sp>
        <p:nvSpPr>
          <p:cNvPr id="6" name="TextBox 5"/>
          <p:cNvSpPr txBox="1"/>
          <p:nvPr/>
        </p:nvSpPr>
        <p:spPr>
          <a:xfrm>
            <a:off x="457200" y="2011680"/>
            <a:ext cx="7772400" cy="3108960"/>
          </a:xfrm>
          <a:prstGeom prst="rect">
            <a:avLst/>
          </a:prstGeom>
          <a:noFill/>
        </p:spPr>
        <p:txBody>
          <a:bodyPr wrap="none" lIns="0" rIns="0" tIns="0" bIns="0">
            <a:spAutoFit/>
          </a:bodyPr>
          <a:lstStyle/>
          <a:p>
            <a:pPr algn="l">
              <a:spcAft>
                <a:spcPts val="0"/>
              </a:spcAft>
            </a:pPr>
            <a:r>
              <a:rPr sz="1000">
                <a:solidFill>
                  <a:srgbClr val="1F2A37"/>
                </a:solidFill>
                <a:latin typeface="Courier New"/>
              </a:rPr>
              <a:t>  smoke_test.py              </a:t>
            </a:r>
            <a:r>
              <a:rPr sz="1000">
                <a:solidFill>
                  <a:srgbClr val="555F6E"/>
                </a:solidFill>
                <a:latin typeface="Courier New"/>
              </a:rPr>
              <a:t># end-to-end sanity check</a:t>
            </a:r>
          </a:p>
          <a:p>
            <a:pPr algn="l">
              <a:spcAft>
                <a:spcPts val="0"/>
              </a:spcAft>
            </a:pPr>
            <a:r>
              <a:rPr sz="1000">
                <a:solidFill>
                  <a:srgbClr val="1F2A37"/>
                </a:solidFill>
                <a:latin typeface="Courier New"/>
              </a:rPr>
              <a:t>  benchmark_latency.py       </a:t>
            </a:r>
            <a:r>
              <a:rPr sz="1000">
                <a:solidFill>
                  <a:srgbClr val="555F6E"/>
                </a:solidFill>
                <a:latin typeface="Courier New"/>
              </a:rPr>
              <a:t># TTFT/TPOT grid sweep (bf16 or --fp8)</a:t>
            </a:r>
          </a:p>
          <a:p>
            <a:pPr algn="l">
              <a:spcAft>
                <a:spcPts val="0"/>
              </a:spcAft>
            </a:pPr>
            <a:r>
              <a:rPr sz="1000">
                <a:solidFill>
                  <a:srgbClr val="1F2A37"/>
                </a:solidFill>
                <a:latin typeface="Courier New"/>
              </a:rPr>
              <a:t>  profile_prefill.py         </a:t>
            </a:r>
            <a:r>
              <a:rPr sz="1000">
                <a:solidFill>
                  <a:srgbClr val="555F6E"/>
                </a:solidFill>
                <a:latin typeface="Courier New"/>
              </a:rPr>
              <a:t># torch.profiler trace, prefill-dominated</a:t>
            </a:r>
          </a:p>
          <a:p>
            <a:pPr algn="l">
              <a:spcAft>
                <a:spcPts val="0"/>
              </a:spcAft>
            </a:pPr>
            <a:r>
              <a:rPr sz="1000">
                <a:solidFill>
                  <a:srgbClr val="1F2A37"/>
                </a:solidFill>
                <a:latin typeface="Courier New"/>
              </a:rPr>
              <a:t>  profile_decode.py          </a:t>
            </a:r>
            <a:r>
              <a:rPr sz="1000">
                <a:solidFill>
                  <a:srgbClr val="555F6E"/>
                </a:solidFill>
                <a:latin typeface="Courier New"/>
              </a:rPr>
              <a:t># torch.profiler trace, decode-dominated</a:t>
            </a:r>
          </a:p>
          <a:p>
            <a:pPr algn="l">
              <a:spcAft>
                <a:spcPts val="0"/>
              </a:spcAft>
            </a:pPr>
            <a:r>
              <a:rPr sz="1000">
                <a:solidFill>
                  <a:srgbClr val="1F2A37"/>
                </a:solidFill>
                <a:latin typeface="Courier New"/>
              </a:rPr>
              <a:t>  eval_suite.py              </a:t>
            </a:r>
            <a:r>
              <a:rPr sz="1000">
                <a:solidFill>
                  <a:srgbClr val="555F6E"/>
                </a:solidFill>
                <a:latin typeface="Courier New"/>
              </a:rPr>
              <a:t># lm-evaluation-harness, bf16 vs FP8</a:t>
            </a:r>
          </a:p>
          <a:p>
            <a:pPr algn="l">
              <a:spcAft>
                <a:spcPts val="0"/>
              </a:spcAft>
            </a:pPr>
            <a:r>
              <a:rPr sz="1000">
                <a:solidFill>
                  <a:srgbClr val="1F2A37"/>
                </a:solidFill>
                <a:latin typeface="Courier New"/>
              </a:rPr>
              <a:t>  bench_compat_check.py      </a:t>
            </a:r>
            <a:r>
              <a:rPr sz="1000">
                <a:solidFill>
                  <a:srgbClr val="555F6E"/>
                </a:solidFill>
                <a:latin typeface="Courier New"/>
              </a:rPr>
              <a:t># harness vs `vllm bench latency` reconciliation</a:t>
            </a:r>
          </a:p>
          <a:p>
            <a:pPr algn="l">
              <a:spcAft>
                <a:spcPts val="0"/>
              </a:spcAft>
            </a:pPr>
            <a:r>
              <a:rPr sz="1000">
                <a:solidFill>
                  <a:srgbClr val="1F2A37"/>
                </a:solidFill>
                <a:latin typeface="Courier New"/>
              </a:rPr>
              <a:t>  bench_prefix_caching.py    </a:t>
            </a:r>
            <a:r>
              <a:rPr sz="1000">
                <a:solidFill>
                  <a:srgbClr val="555F6E"/>
                </a:solidFill>
                <a:latin typeface="Courier New"/>
              </a:rPr>
              <a:t># prefix caching experiment</a:t>
            </a:r>
          </a:p>
          <a:p>
            <a:pPr algn="l">
              <a:spcAft>
                <a:spcPts val="0"/>
              </a:spcAft>
            </a:pPr>
            <a:r>
              <a:rPr sz="1000">
                <a:solidFill>
                  <a:srgbClr val="1F2A37"/>
                </a:solidFill>
                <a:latin typeface="Courier New"/>
              </a:rPr>
              <a:t>  bench_batching.py          </a:t>
            </a:r>
            <a:r>
              <a:rPr sz="1000">
                <a:solidFill>
                  <a:srgbClr val="555F6E"/>
                </a:solidFill>
                <a:latin typeface="Courier New"/>
              </a:rPr>
              <a:t># ShareGPT concurrent workload</a:t>
            </a:r>
          </a:p>
          <a:p>
            <a:pPr algn="l">
              <a:spcAft>
                <a:spcPts val="0"/>
              </a:spcAft>
            </a:pPr>
            <a:r>
              <a:rPr sz="1000">
                <a:solidFill>
                  <a:srgbClr val="1F2A37"/>
                </a:solidFill>
                <a:latin typeface="Courier New"/>
              </a:rPr>
              <a:t>  bench_batching_decode.py   </a:t>
            </a:r>
            <a:r>
              <a:rPr sz="1000">
                <a:solidFill>
                  <a:srgbClr val="555F6E"/>
                </a:solidFill>
                <a:latin typeface="Courier New"/>
              </a:rPr>
              <a:t># pure-decode concurrent workload</a:t>
            </a:r>
          </a:p>
          <a:p>
            <a:pPr algn="l">
              <a:spcAft>
                <a:spcPts val="0"/>
              </a:spcAft>
            </a:pPr>
            <a:r>
              <a:rPr sz="1000">
                <a:solidFill>
                  <a:srgbClr val="1F2A37"/>
                </a:solidFill>
                <a:latin typeface="Courier New"/>
              </a:rPr>
              <a:t>  build_deck.py              </a:t>
            </a:r>
            <a:r>
              <a:rPr sz="1000">
                <a:solidFill>
                  <a:srgbClr val="555F6E"/>
                </a:solidFill>
                <a:latin typeface="Courier New"/>
              </a:rPr>
              <a:t># talk/deck.pptx generator</a:t>
            </a:r>
          </a:p>
          <a:p>
            <a:pPr algn="l">
              <a:spcAft>
                <a:spcPts val="0"/>
              </a:spcAft>
            </a:pPr>
            <a:r>
              <a:rPr sz="1000">
                <a:solidFill>
                  <a:srgbClr val="1F2A37"/>
                </a:solidFill>
                <a:latin typeface="Courier New"/>
              </a:rPr>
              <a:t>  harness/                   </a:t>
            </a:r>
            <a:r>
              <a:rPr sz="1000">
                <a:solidFill>
                  <a:srgbClr val="555F6E"/>
                </a:solidFill>
                <a:latin typeface="Courier New"/>
              </a:rPr>
              <a:t># vLLM-server launcher + streaming HTTP client</a:t>
            </a:r>
          </a:p>
          <a:p>
            <a:pPr algn="l">
              <a:spcAft>
                <a:spcPts val="0"/>
              </a:spcAft>
            </a:pPr>
            <a:r>
              <a:rPr sz="1000">
                <a:solidFill>
                  <a:srgbClr val="1F2A37"/>
                </a:solidFill>
                <a:latin typeface="Courier New"/>
              </a:rPr>
              <a:t>  plots/                     </a:t>
            </a:r>
            <a:r>
              <a:rPr sz="1000">
                <a:solidFill>
                  <a:srgbClr val="555F6E"/>
                </a:solidFill>
                <a:latin typeface="Courier New"/>
              </a:rPr>
              <a:t># matplotlib figure generators</a:t>
            </a:r>
          </a:p>
        </p:txBody>
      </p:sp>
      <p:sp>
        <p:nvSpPr>
          <p:cNvPr id="7" name="TextBox 6"/>
          <p:cNvSpPr txBox="1"/>
          <p:nvPr/>
        </p:nvSpPr>
        <p:spPr>
          <a:xfrm>
            <a:off x="457200" y="4983480"/>
            <a:ext cx="5943600" cy="274320"/>
          </a:xfrm>
          <a:prstGeom prst="rect">
            <a:avLst/>
          </a:prstGeom>
          <a:noFill/>
        </p:spPr>
        <p:txBody>
          <a:bodyPr wrap="square" lIns="0" rIns="0" tIns="0" bIns="0">
            <a:spAutoFit/>
          </a:bodyPr>
          <a:lstStyle/>
          <a:p>
            <a:pPr algn="l"/>
            <a:r>
              <a:rPr sz="1200" b="1" i="0">
                <a:solidFill>
                  <a:srgbClr val="2E66C2"/>
                </a:solidFill>
                <a:latin typeface="Calibri"/>
              </a:rPr>
              <a:t>results/</a:t>
            </a:r>
          </a:p>
        </p:txBody>
      </p:sp>
      <p:sp>
        <p:nvSpPr>
          <p:cNvPr id="8" name="TextBox 7"/>
          <p:cNvSpPr txBox="1"/>
          <p:nvPr/>
        </p:nvSpPr>
        <p:spPr>
          <a:xfrm>
            <a:off x="457200" y="5303520"/>
            <a:ext cx="7772400" cy="1097280"/>
          </a:xfrm>
          <a:prstGeom prst="rect">
            <a:avLst/>
          </a:prstGeom>
          <a:noFill/>
        </p:spPr>
        <p:txBody>
          <a:bodyPr wrap="none" lIns="0" rIns="0" tIns="0" bIns="0">
            <a:spAutoFit/>
          </a:bodyPr>
          <a:lstStyle/>
          <a:p>
            <a:pPr algn="l">
              <a:spcAft>
                <a:spcPts val="0"/>
              </a:spcAft>
            </a:pPr>
            <a:r>
              <a:rPr sz="1000">
                <a:solidFill>
                  <a:srgbClr val="1F2A37"/>
                </a:solidFill>
                <a:latin typeface="Courier New"/>
              </a:rPr>
              <a:t>  baseline_*.json            </a:t>
            </a:r>
            <a:r>
              <a:rPr sz="1000">
                <a:solidFill>
                  <a:srgbClr val="555F6E"/>
                </a:solidFill>
                <a:latin typeface="Courier New"/>
              </a:rPr>
              <a:t># bf16 latency cells</a:t>
            </a:r>
          </a:p>
          <a:p>
            <a:pPr algn="l">
              <a:spcAft>
                <a:spcPts val="0"/>
              </a:spcAft>
            </a:pPr>
            <a:r>
              <a:rPr sz="1000">
                <a:solidFill>
                  <a:srgbClr val="1F2A37"/>
                </a:solidFill>
                <a:latin typeface="Courier New"/>
              </a:rPr>
              <a:t>  fp8_*.json                 </a:t>
            </a:r>
            <a:r>
              <a:rPr sz="1000">
                <a:solidFill>
                  <a:srgbClr val="555F6E"/>
                </a:solidFill>
                <a:latin typeface="Courier New"/>
              </a:rPr>
              <a:t># FP8 latency cells</a:t>
            </a:r>
          </a:p>
          <a:p>
            <a:pPr algn="l">
              <a:spcAft>
                <a:spcPts val="0"/>
              </a:spcAft>
            </a:pPr>
            <a:r>
              <a:rPr sz="1000">
                <a:solidFill>
                  <a:srgbClr val="1F2A37"/>
                </a:solidFill>
                <a:latin typeface="Courier New"/>
              </a:rPr>
              <a:t>  eval/                      </a:t>
            </a:r>
            <a:r>
              <a:rPr sz="1000">
                <a:solidFill>
                  <a:srgbClr val="555F6E"/>
                </a:solidFill>
                <a:latin typeface="Courier New"/>
              </a:rPr>
              <a:t># lm-evaluation-harness outputs</a:t>
            </a:r>
          </a:p>
          <a:p>
            <a:pPr algn="l">
              <a:spcAft>
                <a:spcPts val="0"/>
              </a:spcAft>
            </a:pPr>
            <a:r>
              <a:rPr sz="1000">
                <a:solidFill>
                  <a:srgbClr val="1F2A37"/>
                </a:solidFill>
                <a:latin typeface="Courier New"/>
              </a:rPr>
              <a:t>  harness/                   </a:t>
            </a:r>
            <a:r>
              <a:rPr sz="1000">
                <a:solidFill>
                  <a:srgbClr val="555F6E"/>
                </a:solidFill>
                <a:latin typeface="Courier New"/>
              </a:rPr>
              <a:t># HTTP-harness outputs (prefix, batching)</a:t>
            </a:r>
          </a:p>
          <a:p>
            <a:pPr algn="l">
              <a:spcAft>
                <a:spcPts val="0"/>
              </a:spcAft>
            </a:pPr>
            <a:r>
              <a:rPr sz="1000">
                <a:solidFill>
                  <a:srgbClr val="1F2A37"/>
                </a:solidFill>
                <a:latin typeface="Courier New"/>
              </a:rPr>
              <a:t>  profile/                   </a:t>
            </a:r>
            <a:r>
              <a:rPr sz="1000">
                <a:solidFill>
                  <a:srgbClr val="555F6E"/>
                </a:solidFill>
                <a:latin typeface="Courier New"/>
              </a:rPr>
              <a:t># torch.profiler traces + kernel summaries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286000"/>
            <a:ext cx="10972800" cy="1828800"/>
          </a:xfrm>
          <a:prstGeom prst="rect">
            <a:avLst/>
          </a:prstGeom>
          <a:noFill/>
        </p:spPr>
        <p:txBody>
          <a:bodyPr wrap="square" lIns="0" rIns="0" tIns="0" bIns="0">
            <a:spAutoFit/>
          </a:bodyPr>
          <a:lstStyle/>
          <a:p>
            <a:pPr algn="ctr"/>
            <a:r>
              <a:rPr sz="12000" b="1" i="0">
                <a:solidFill>
                  <a:srgbClr val="1F2A37"/>
                </a:solidFill>
                <a:latin typeface="Calibri"/>
              </a:rPr>
              <a:t>Q&amp;A</a:t>
            </a:r>
          </a:p>
        </p:txBody>
      </p:sp>
      <p:sp>
        <p:nvSpPr>
          <p:cNvPr id="3" name="Rectangle 2"/>
          <p:cNvSpPr/>
          <p:nvPr/>
        </p:nvSpPr>
        <p:spPr>
          <a:xfrm>
            <a:off x="5120640" y="420624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480560"/>
            <a:ext cx="10972800" cy="457200"/>
          </a:xfrm>
          <a:prstGeom prst="rect">
            <a:avLst/>
          </a:prstGeom>
          <a:noFill/>
        </p:spPr>
        <p:txBody>
          <a:bodyPr wrap="square" lIns="0" rIns="0" tIns="0" bIns="0">
            <a:spAutoFit/>
          </a:bodyPr>
          <a:lstStyle/>
          <a:p>
            <a:pPr algn="ctr"/>
            <a:r>
              <a:rPr sz="2200" b="0" i="0">
                <a:solidFill>
                  <a:srgbClr val="555F6E"/>
                </a:solidFill>
                <a:latin typeface="Calibri"/>
              </a:rPr>
              <a:t>15 minutes — fire away.</a:t>
            </a:r>
          </a:p>
        </p:txBody>
      </p:sp>
      <p:sp>
        <p:nvSpPr>
          <p:cNvPr id="5" name="TextBox 4"/>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6" name="TextBox 5"/>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