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000" b="1" i="0">
                <a:solidFill>
                  <a:srgbClr val="1F2A37"/>
                </a:solidFill>
                <a:latin typeface="Calibri"/>
              </a:rPr>
              <a:t>Unblock the chat application production launch</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5943600" cy="274320"/>
          </a:xfrm>
          <a:prstGeom prst="rect">
            <a:avLst/>
          </a:prstGeom>
          <a:noFill/>
        </p:spPr>
        <p:txBody>
          <a:bodyPr wrap="square" lIns="0" rIns="0" tIns="0" bIns="0">
            <a:spAutoFit/>
          </a:bodyPr>
          <a:lstStyle/>
          <a:p>
            <a:pPr algn="l"/>
            <a:r>
              <a:rPr sz="1200" b="1" i="0">
                <a:solidFill>
                  <a:srgbClr val="2E66C2"/>
                </a:solidFill>
                <a:latin typeface="Calibri"/>
              </a:rPr>
              <a:t>scripts/</a:t>
            </a:r>
          </a:p>
        </p:txBody>
      </p:sp>
      <p:sp>
        <p:nvSpPr>
          <p:cNvPr id="6" name="TextBox 5"/>
          <p:cNvSpPr txBox="1"/>
          <p:nvPr/>
        </p:nvSpPr>
        <p:spPr>
          <a:xfrm>
            <a:off x="457200" y="2011680"/>
            <a:ext cx="7772400" cy="3108960"/>
          </a:xfrm>
          <a:prstGeom prst="rect">
            <a:avLst/>
          </a:prstGeom>
          <a:noFill/>
        </p:spPr>
        <p:txBody>
          <a:bodyPr wrap="none" lIns="0" rIns="0" tIns="0" bIns="0">
            <a:spAutoFit/>
          </a:bodyPr>
          <a:lstStyle/>
          <a:p>
            <a:pPr algn="l">
              <a:spcAft>
                <a:spcPts val="0"/>
              </a:spcAft>
            </a:pPr>
            <a:r>
              <a:rPr sz="1000">
                <a:solidFill>
                  <a:srgbClr val="1F2A37"/>
                </a:solidFill>
                <a:latin typeface="Courier New"/>
              </a:rPr>
              <a:t>  smoke_test.py              </a:t>
            </a:r>
            <a:r>
              <a:rPr sz="1000">
                <a:solidFill>
                  <a:srgbClr val="555F6E"/>
                </a:solidFill>
                <a:latin typeface="Courier New"/>
              </a:rPr>
              <a:t># end-to-end sanity check</a:t>
            </a:r>
          </a:p>
          <a:p>
            <a:pPr algn="l">
              <a:spcAft>
                <a:spcPts val="0"/>
              </a:spcAft>
            </a:pPr>
            <a:r>
              <a:rPr sz="1000">
                <a:solidFill>
                  <a:srgbClr val="1F2A37"/>
                </a:solidFill>
                <a:latin typeface="Courier New"/>
              </a:rPr>
              <a:t>  benchmark_latency.py       </a:t>
            </a:r>
            <a:r>
              <a:rPr sz="1000">
                <a:solidFill>
                  <a:srgbClr val="555F6E"/>
                </a:solidFill>
                <a:latin typeface="Courier New"/>
              </a:rPr>
              <a:t># TTFT/TPOT grid sweep (bf16 or --fp8)</a:t>
            </a:r>
          </a:p>
          <a:p>
            <a:pPr algn="l">
              <a:spcAft>
                <a:spcPts val="0"/>
              </a:spcAft>
            </a:pPr>
            <a:r>
              <a:rPr sz="1000">
                <a:solidFill>
                  <a:srgbClr val="1F2A37"/>
                </a:solidFill>
                <a:latin typeface="Courier New"/>
              </a:rPr>
              <a:t>  profile_prefill.py         </a:t>
            </a:r>
            <a:r>
              <a:rPr sz="1000">
                <a:solidFill>
                  <a:srgbClr val="555F6E"/>
                </a:solidFill>
                <a:latin typeface="Courier New"/>
              </a:rPr>
              <a:t># torch.profiler trace, prefill-dominated</a:t>
            </a:r>
          </a:p>
          <a:p>
            <a:pPr algn="l">
              <a:spcAft>
                <a:spcPts val="0"/>
              </a:spcAft>
            </a:pPr>
            <a:r>
              <a:rPr sz="1000">
                <a:solidFill>
                  <a:srgbClr val="1F2A37"/>
                </a:solidFill>
                <a:latin typeface="Courier New"/>
              </a:rPr>
              <a:t>  profile_decode.py          </a:t>
            </a:r>
            <a:r>
              <a:rPr sz="1000">
                <a:solidFill>
                  <a:srgbClr val="555F6E"/>
                </a:solidFill>
                <a:latin typeface="Courier New"/>
              </a:rPr>
              <a:t># torch.profiler trace, decode-dominated</a:t>
            </a:r>
          </a:p>
          <a:p>
            <a:pPr algn="l">
              <a:spcAft>
                <a:spcPts val="0"/>
              </a:spcAft>
            </a:pPr>
            <a:r>
              <a:rPr sz="1000">
                <a:solidFill>
                  <a:srgbClr val="1F2A37"/>
                </a:solidFill>
                <a:latin typeface="Courier New"/>
              </a:rPr>
              <a:t>  eval_suite.py              </a:t>
            </a:r>
            <a:r>
              <a:rPr sz="1000">
                <a:solidFill>
                  <a:srgbClr val="555F6E"/>
                </a:solidFill>
                <a:latin typeface="Courier New"/>
              </a:rPr>
              <a:t># lm-evaluation-harness, bf16 vs FP8</a:t>
            </a:r>
          </a:p>
          <a:p>
            <a:pPr algn="l">
              <a:spcAft>
                <a:spcPts val="0"/>
              </a:spcAft>
            </a:pPr>
            <a:r>
              <a:rPr sz="1000">
                <a:solidFill>
                  <a:srgbClr val="1F2A37"/>
                </a:solidFill>
                <a:latin typeface="Courier New"/>
              </a:rPr>
              <a:t>  bench_compat_check.py      </a:t>
            </a:r>
            <a:r>
              <a:rPr sz="1000">
                <a:solidFill>
                  <a:srgbClr val="555F6E"/>
                </a:solidFill>
                <a:latin typeface="Courier New"/>
              </a:rPr>
              <a:t># harness vs `vllm bench latency` reconciliation</a:t>
            </a:r>
          </a:p>
          <a:p>
            <a:pPr algn="l">
              <a:spcAft>
                <a:spcPts val="0"/>
              </a:spcAft>
            </a:pPr>
            <a:r>
              <a:rPr sz="1000">
                <a:solidFill>
                  <a:srgbClr val="1F2A37"/>
                </a:solidFill>
                <a:latin typeface="Courier New"/>
              </a:rPr>
              <a:t>  bench_prefix_caching.py    </a:t>
            </a:r>
            <a:r>
              <a:rPr sz="1000">
                <a:solidFill>
                  <a:srgbClr val="555F6E"/>
                </a:solidFill>
                <a:latin typeface="Courier New"/>
              </a:rPr>
              <a:t># prefix caching experiment</a:t>
            </a:r>
          </a:p>
          <a:p>
            <a:pPr algn="l">
              <a:spcAft>
                <a:spcPts val="0"/>
              </a:spcAft>
            </a:pPr>
            <a:r>
              <a:rPr sz="1000">
                <a:solidFill>
                  <a:srgbClr val="1F2A37"/>
                </a:solidFill>
                <a:latin typeface="Courier New"/>
              </a:rPr>
              <a:t>  bench_batching.py          </a:t>
            </a:r>
            <a:r>
              <a:rPr sz="1000">
                <a:solidFill>
                  <a:srgbClr val="555F6E"/>
                </a:solidFill>
                <a:latin typeface="Courier New"/>
              </a:rPr>
              <a:t># ShareGPT concurrent workload</a:t>
            </a:r>
          </a:p>
          <a:p>
            <a:pPr algn="l">
              <a:spcAft>
                <a:spcPts val="0"/>
              </a:spcAft>
            </a:pPr>
            <a:r>
              <a:rPr sz="1000">
                <a:solidFill>
                  <a:srgbClr val="1F2A37"/>
                </a:solidFill>
                <a:latin typeface="Courier New"/>
              </a:rPr>
              <a:t>  bench_batching_decode.py   </a:t>
            </a:r>
            <a:r>
              <a:rPr sz="1000">
                <a:solidFill>
                  <a:srgbClr val="555F6E"/>
                </a:solidFill>
                <a:latin typeface="Courier New"/>
              </a:rPr>
              <a:t># pure-decode concurrent workload</a:t>
            </a:r>
          </a:p>
          <a:p>
            <a:pPr algn="l">
              <a:spcAft>
                <a:spcPts val="0"/>
              </a:spcAft>
            </a:pPr>
            <a:r>
              <a:rPr sz="1000">
                <a:solidFill>
                  <a:srgbClr val="1F2A37"/>
                </a:solidFill>
                <a:latin typeface="Courier New"/>
              </a:rPr>
              <a:t>  build_deck.py              </a:t>
            </a:r>
            <a:r>
              <a:rPr sz="1000">
                <a:solidFill>
                  <a:srgbClr val="555F6E"/>
                </a:solidFill>
                <a:latin typeface="Courier New"/>
              </a:rPr>
              <a:t># talk/deck.pptx generator</a:t>
            </a:r>
          </a:p>
          <a:p>
            <a:pPr algn="l">
              <a:spcAft>
                <a:spcPts val="0"/>
              </a:spcAft>
            </a:pPr>
            <a:r>
              <a:rPr sz="1000">
                <a:solidFill>
                  <a:srgbClr val="1F2A37"/>
                </a:solidFill>
                <a:latin typeface="Courier New"/>
              </a:rPr>
              <a:t>  harness/                   </a:t>
            </a:r>
            <a:r>
              <a:rPr sz="1000">
                <a:solidFill>
                  <a:srgbClr val="555F6E"/>
                </a:solidFill>
                <a:latin typeface="Courier New"/>
              </a:rPr>
              <a:t># vLLM-server launcher + streaming HTTP client</a:t>
            </a:r>
          </a:p>
          <a:p>
            <a:pPr algn="l">
              <a:spcAft>
                <a:spcPts val="0"/>
              </a:spcAft>
            </a:pPr>
            <a:r>
              <a:rPr sz="1000">
                <a:solidFill>
                  <a:srgbClr val="1F2A37"/>
                </a:solidFill>
                <a:latin typeface="Courier New"/>
              </a:rPr>
              <a:t>  plots/                     </a:t>
            </a:r>
            <a:r>
              <a:rPr sz="1000">
                <a:solidFill>
                  <a:srgbClr val="555F6E"/>
                </a:solidFill>
                <a:latin typeface="Courier New"/>
              </a:rPr>
              <a:t># matplotlib figure generators</a:t>
            </a:r>
          </a:p>
        </p:txBody>
      </p:sp>
      <p:sp>
        <p:nvSpPr>
          <p:cNvPr id="7" name="TextBox 6"/>
          <p:cNvSpPr txBox="1"/>
          <p:nvPr/>
        </p:nvSpPr>
        <p:spPr>
          <a:xfrm>
            <a:off x="457200" y="4983480"/>
            <a:ext cx="594360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8" name="TextBox 7"/>
          <p:cNvSpPr txBox="1"/>
          <p:nvPr/>
        </p:nvSpPr>
        <p:spPr>
          <a:xfrm>
            <a:off x="457200" y="5303520"/>
            <a:ext cx="7772400" cy="1097280"/>
          </a:xfrm>
          <a:prstGeom prst="rect">
            <a:avLst/>
          </a:prstGeom>
          <a:noFill/>
        </p:spPr>
        <p:txBody>
          <a:bodyPr wrap="none" lIns="0" rIns="0" tIns="0" bIns="0">
            <a:spAutoFit/>
          </a:bodyPr>
          <a:lstStyle/>
          <a:p>
            <a:pPr algn="l">
              <a:spcAft>
                <a:spcPts val="0"/>
              </a:spcAft>
            </a:pPr>
            <a:r>
              <a:rPr sz="1000">
                <a:solidFill>
                  <a:srgbClr val="1F2A37"/>
                </a:solidFill>
                <a:latin typeface="Courier New"/>
              </a:rPr>
              <a:t>  baseline_*.json            </a:t>
            </a:r>
            <a:r>
              <a:rPr sz="1000">
                <a:solidFill>
                  <a:srgbClr val="555F6E"/>
                </a:solidFill>
                <a:latin typeface="Courier New"/>
              </a:rPr>
              <a:t># bf16 latency cells</a:t>
            </a:r>
          </a:p>
          <a:p>
            <a:pPr algn="l">
              <a:spcAft>
                <a:spcPts val="0"/>
              </a:spcAft>
            </a:pPr>
            <a:r>
              <a:rPr sz="1000">
                <a:solidFill>
                  <a:srgbClr val="1F2A37"/>
                </a:solidFill>
                <a:latin typeface="Courier New"/>
              </a:rPr>
              <a:t>  fp8_*.json                 </a:t>
            </a:r>
            <a:r>
              <a:rPr sz="1000">
                <a:solidFill>
                  <a:srgbClr val="555F6E"/>
                </a:solidFill>
                <a:latin typeface="Courier New"/>
              </a:rPr>
              <a:t># FP8 latency cells</a:t>
            </a:r>
          </a:p>
          <a:p>
            <a:pPr algn="l">
              <a:spcAft>
                <a:spcPts val="0"/>
              </a:spcAft>
            </a:pPr>
            <a:r>
              <a:rPr sz="1000">
                <a:solidFill>
                  <a:srgbClr val="1F2A37"/>
                </a:solidFill>
                <a:latin typeface="Courier New"/>
              </a:rPr>
              <a:t>  eval/                      </a:t>
            </a:r>
            <a:r>
              <a:rPr sz="1000">
                <a:solidFill>
                  <a:srgbClr val="555F6E"/>
                </a:solidFill>
                <a:latin typeface="Courier New"/>
              </a:rPr>
              <a:t># lm-evaluation-harness outputs</a:t>
            </a:r>
          </a:p>
          <a:p>
            <a:pPr algn="l">
              <a:spcAft>
                <a:spcPts val="0"/>
              </a:spcAft>
            </a:pPr>
            <a:r>
              <a:rPr sz="1000">
                <a:solidFill>
                  <a:srgbClr val="1F2A37"/>
                </a:solidFill>
                <a:latin typeface="Courier New"/>
              </a:rPr>
              <a:t>  harness/                   </a:t>
            </a:r>
            <a:r>
              <a:rPr sz="1000">
                <a:solidFill>
                  <a:srgbClr val="555F6E"/>
                </a:solidFill>
                <a:latin typeface="Courier New"/>
              </a:rPr>
              <a:t># HTTP-harness outputs (prefix, batching)</a:t>
            </a:r>
          </a:p>
          <a:p>
            <a:pPr algn="l">
              <a:spcAft>
                <a:spcPts val="0"/>
              </a:spcAft>
            </a:pPr>
            <a:r>
              <a:rPr sz="1000">
                <a:solidFill>
                  <a:srgbClr val="1F2A37"/>
                </a:solidFill>
                <a:latin typeface="Courier New"/>
              </a:rPr>
              <a:t>  profile/                   </a:t>
            </a:r>
            <a:r>
              <a:rPr sz="1000">
                <a:solidFill>
                  <a:srgbClr val="555F6E"/>
                </a:solidFill>
                <a:latin typeface="Courier New"/>
              </a:rPr>
              <a:t># torch.profiler traces + kernel summaries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